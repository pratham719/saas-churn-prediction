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project: an end-to-end churn analysis on a public SaaS dataset - cleaning, exploration, a classification model and a Streamlit dashboard. Everything in this deck is taken from the project notebooks and the app; where something could not be verified, the slide says so.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expectations. The goal is analysis plus a working dashboard. Four boundaries apply to everything that follows: the data is synthetic, differences are associations, no operational deployment is claimed, and validation and test numbers are never mixed.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tables joined on account_id (and subscription_id for feature usage). Missing values are mostly structural: open subscriptions have no end date; some tickets have no satisfaction score. One caveat: the churn_events table covers 352 accounts but only 110 are flagged as churned, which matters later. The 'synthetic' description comes from a public repository README; it has not been confirmed on the Kaggle listing itself.</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left to right. Notebook 01 cleans, notebook 02 builds the account-level dataset used by the dashboard charts, notebook 04 trains and evaluates the model and saves artifacts. The app reads the dataset and the saved files. Notebook 03 was an earlier, leakier iteration and is excluded.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leakage control. For retained accounts, features are built up to the end of the data. For churned accounts, features stop 30 days before their first churn event, so the model sees the period before leaving. Four columns that only exist after churn were excluded. One consequence, discussed on the limitations slide: churned accounts with no churn event get no prediction date and therefore missing features.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 tier does not separate churners from retained customers - all three tiers sit near 22%. DevTools, Germany, event referrals and trial accounts show higher rates, but several groups are small (Germany is 25 accounts), and nothing is tested for significance. These are associations, not causes. Be careful with the tenure result: churned accounts are measured to their churn date, so tenure and churn are linked by construction.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live app. The sidebar filters drive the exploratory charts. The insight boxes and recommendation cards are hard-coded text; their numbers were checked against the dataset, but they do not update when filters change.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examples of the dashboard's charts, each ending in an insight box. Upgrade and downgrade counts barely differ between retained and churned accounts. MRR is about $232 higher for retained accounts, a descriptive difference only.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is stratified, so each part has 22% churners. Preprocessing sits inside the pipeline so it is learned from training data only. Three models were compared on validation; Gradient Boosting won on every metric except ROC-AUC, where Random Forest was slightly higher (0.810 vs 0.805). The threshold was chosen on validation by best F1. Only then was the test set scored.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are validation-set numbers at the default cutoff and are only for choosing between models. They are not the final performance. Cross-validation is a separate robustness check on all 500 rows and was not used for selection.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final numbers - the model was applied once to the held-out test set at the threshold picked on validation. The confusion matrix matches the metrics: precision 16/20, recall 16/22. The interval comes from my own bootstrap analysis done while documenting the project; it is not part of the notebooks. Do not compare these with the validation table - they use different accounts and a different threshold.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importance here is impurity-based, from the model fitted on the training split. It says which inputs the trees used, not that those inputs drive churn. Avg MRR dominates; the later limitations slide explains why part of that may be a data artefact.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reader picks an account; the app shows probability, band and a message. This is a demonstration of how a score would be presented. It is not evidence of accuracy: the features fed here differ from those used in training, and most accounts were part of the training data.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upfront about this. Churned accounts that have no churn event get no prediction date, so their features are missing and get filled with medians. That pattern - missing avg MRR - never occurs for retained accounts, and the model can exploit it. Half of the test churners are of this type. I reproduced the notebook's pipeline from the cleaned CSVs (it matched the test metrics and confusion matrix exactly) and measured this. The headline test recall of 0.727 should be quoted with this caveat. Other limits: tiny test set, mismatch between dashboard features and training features, synthetic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deliverable and the honest caveats. The next steps are suggestions only - none has been done. Thank the audience and invite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822960" y="1097280"/>
            <a:ext cx="7315200" cy="365760"/>
          </a:xfrm>
          <a:prstGeom prst="rect">
            <a:avLst/>
          </a:prstGeom>
          <a:noFill/>
        </p:spPr>
        <p:txBody>
          <a:bodyPr wrap="square" lIns="36576" rIns="36576" tIns="18288" bIns="18288" anchor="t">
            <a:spAutoFit/>
          </a:bodyPr>
          <a:lstStyle/>
          <a:p>
            <a:pPr algn="l">
              <a:lnSpc>
                <a:spcPct val="105000"/>
              </a:lnSpc>
            </a:pPr>
            <a:r>
              <a:rPr sz="1200" b="1" i="0">
                <a:solidFill>
                  <a:srgbClr val="00D4AA"/>
                </a:solidFill>
                <a:latin typeface="Calibri"/>
              </a:rPr>
              <a:t>INTERNSHIP PROJECT REPORT  ·  PRESENTATION</a:t>
            </a:r>
          </a:p>
        </p:txBody>
      </p:sp>
      <p:sp>
        <p:nvSpPr>
          <p:cNvPr id="3" name="TextBox 2"/>
          <p:cNvSpPr txBox="1"/>
          <p:nvPr/>
        </p:nvSpPr>
        <p:spPr>
          <a:xfrm>
            <a:off x="822960" y="1645920"/>
            <a:ext cx="10515600" cy="914400"/>
          </a:xfrm>
          <a:prstGeom prst="rect">
            <a:avLst/>
          </a:prstGeom>
          <a:noFill/>
        </p:spPr>
        <p:txBody>
          <a:bodyPr wrap="square" lIns="36576" rIns="36576" tIns="18288" bIns="18288" anchor="t">
            <a:spAutoFit/>
          </a:bodyPr>
          <a:lstStyle/>
          <a:p>
            <a:pPr algn="l">
              <a:lnSpc>
                <a:spcPct val="105000"/>
              </a:lnSpc>
            </a:pPr>
            <a:r>
              <a:rPr sz="5400" b="1" i="0">
                <a:solidFill>
                  <a:srgbClr val="E8ECF5"/>
                </a:solidFill>
                <a:latin typeface="Calibri"/>
              </a:rPr>
              <a:t>SaaS Subscription</a:t>
            </a:r>
          </a:p>
        </p:txBody>
      </p:sp>
      <p:sp>
        <p:nvSpPr>
          <p:cNvPr id="4" name="TextBox 3"/>
          <p:cNvSpPr txBox="1"/>
          <p:nvPr/>
        </p:nvSpPr>
        <p:spPr>
          <a:xfrm>
            <a:off x="822960" y="2514600"/>
            <a:ext cx="10515600" cy="914400"/>
          </a:xfrm>
          <a:prstGeom prst="rect">
            <a:avLst/>
          </a:prstGeom>
          <a:noFill/>
        </p:spPr>
        <p:txBody>
          <a:bodyPr wrap="square" lIns="36576" rIns="36576" tIns="18288" bIns="18288" anchor="t">
            <a:spAutoFit/>
          </a:bodyPr>
          <a:lstStyle/>
          <a:p>
            <a:pPr algn="l">
              <a:lnSpc>
                <a:spcPct val="105000"/>
              </a:lnSpc>
            </a:pPr>
            <a:r>
              <a:rPr sz="5400" b="1" i="0">
                <a:solidFill>
                  <a:srgbClr val="8B84FF"/>
                </a:solidFill>
                <a:latin typeface="Calibri"/>
              </a:rPr>
              <a:t>Churn Prediction</a:t>
            </a:r>
          </a:p>
        </p:txBody>
      </p:sp>
      <p:sp>
        <p:nvSpPr>
          <p:cNvPr id="5" name="TextBox 4"/>
          <p:cNvSpPr txBox="1"/>
          <p:nvPr/>
        </p:nvSpPr>
        <p:spPr>
          <a:xfrm>
            <a:off x="822960" y="3611880"/>
            <a:ext cx="10058400" cy="457200"/>
          </a:xfrm>
          <a:prstGeom prst="rect">
            <a:avLst/>
          </a:prstGeom>
          <a:noFill/>
        </p:spPr>
        <p:txBody>
          <a:bodyPr wrap="square" lIns="36576" rIns="36576" tIns="18288" bIns="18288" anchor="t">
            <a:spAutoFit/>
          </a:bodyPr>
          <a:lstStyle/>
          <a:p>
            <a:pPr algn="l">
              <a:lnSpc>
                <a:spcPct val="105000"/>
              </a:lnSpc>
            </a:pPr>
            <a:r>
              <a:rPr sz="2200" b="0" i="0">
                <a:solidFill>
                  <a:srgbClr val="9AA5BF"/>
                </a:solidFill>
                <a:latin typeface="Calibri"/>
              </a:rPr>
              <a:t>Machine Learning and Interactive Analytics</a:t>
            </a:r>
          </a:p>
        </p:txBody>
      </p:sp>
      <p:sp>
        <p:nvSpPr>
          <p:cNvPr id="6" name="Rectangle 5"/>
          <p:cNvSpPr/>
          <p:nvPr/>
        </p:nvSpPr>
        <p:spPr>
          <a:xfrm>
            <a:off x="868680" y="4343400"/>
            <a:ext cx="1097280" cy="54864"/>
          </a:xfrm>
          <a:prstGeom prst="rect">
            <a:avLst/>
          </a:prstGeom>
          <a:solidFill>
            <a:srgbClr val="00D4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4572000"/>
            <a:ext cx="7315200" cy="365760"/>
          </a:xfrm>
          <a:prstGeom prst="rect">
            <a:avLst/>
          </a:prstGeom>
          <a:noFill/>
        </p:spPr>
        <p:txBody>
          <a:bodyPr wrap="square" lIns="36576" rIns="36576" tIns="18288" bIns="18288" anchor="t">
            <a:spAutoFit/>
          </a:bodyPr>
          <a:lstStyle/>
          <a:p>
            <a:pPr algn="l">
              <a:lnSpc>
                <a:spcPct val="105000"/>
              </a:lnSpc>
            </a:pPr>
            <a:r>
              <a:rPr sz="1800" b="1" i="0">
                <a:solidFill>
                  <a:srgbClr val="E8ECF5"/>
                </a:solidFill>
                <a:latin typeface="Calibri"/>
              </a:rPr>
              <a:t>Pratham Rangoonwala</a:t>
            </a:r>
          </a:p>
        </p:txBody>
      </p:sp>
      <p:sp>
        <p:nvSpPr>
          <p:cNvPr id="8" name="TextBox 7"/>
          <p:cNvSpPr txBox="1"/>
          <p:nvPr/>
        </p:nvSpPr>
        <p:spPr>
          <a:xfrm>
            <a:off x="822960" y="4956048"/>
            <a:ext cx="7315200" cy="365760"/>
          </a:xfrm>
          <a:prstGeom prst="rect">
            <a:avLst/>
          </a:prstGeom>
          <a:noFill/>
        </p:spPr>
        <p:txBody>
          <a:bodyPr wrap="square" lIns="36576" rIns="36576" tIns="18288" bIns="18288" anchor="t">
            <a:spAutoFit/>
          </a:bodyPr>
          <a:lstStyle/>
          <a:p>
            <a:pPr algn="l">
              <a:lnSpc>
                <a:spcPct val="105000"/>
              </a:lnSpc>
            </a:pPr>
            <a:r>
              <a:rPr sz="1600" b="0" i="0">
                <a:solidFill>
                  <a:srgbClr val="9AA5BF"/>
                </a:solidFill>
                <a:latin typeface="Calibri"/>
              </a:rPr>
              <a:t>Naviotech Solution Pvt. Ltd.</a:t>
            </a:r>
          </a:p>
        </p:txBody>
      </p:sp>
      <p:sp>
        <p:nvSpPr>
          <p:cNvPr id="9" name="TextBox 8"/>
          <p:cNvSpPr txBox="1"/>
          <p:nvPr/>
        </p:nvSpPr>
        <p:spPr>
          <a:xfrm>
            <a:off x="822960" y="5321808"/>
            <a:ext cx="7315200" cy="365760"/>
          </a:xfrm>
          <a:prstGeom prst="rect">
            <a:avLst/>
          </a:prstGeom>
          <a:noFill/>
        </p:spPr>
        <p:txBody>
          <a:bodyPr wrap="square" lIns="36576" rIns="36576" tIns="18288" bIns="18288" anchor="t">
            <a:spAutoFit/>
          </a:bodyPr>
          <a:lstStyle/>
          <a:p>
            <a:pPr algn="l">
              <a:lnSpc>
                <a:spcPct val="105000"/>
              </a:lnSpc>
            </a:pPr>
            <a:r>
              <a:rPr sz="1600" b="0" i="0">
                <a:solidFill>
                  <a:srgbClr val="9AA5BF"/>
                </a:solidFill>
                <a:latin typeface="Calibri"/>
              </a:rPr>
              <a:t>25/10/2026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CONTEXT</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Why churn, and what this project does</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2</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sp>
        <p:nvSpPr>
          <p:cNvPr id="6" name="Rounded Rectangle 5"/>
          <p:cNvSpPr/>
          <p:nvPr/>
        </p:nvSpPr>
        <p:spPr>
          <a:xfrm>
            <a:off x="548640" y="1463040"/>
            <a:ext cx="5760720" cy="4663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63040"/>
            <a:ext cx="5541264"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45920"/>
            <a:ext cx="5303520" cy="365760"/>
          </a:xfrm>
          <a:prstGeom prst="rect">
            <a:avLst/>
          </a:prstGeom>
          <a:noFill/>
        </p:spPr>
        <p:txBody>
          <a:bodyPr wrap="square" lIns="36576" rIns="36576" tIns="18288" bIns="18288" anchor="t">
            <a:spAutoFit/>
          </a:bodyPr>
          <a:lstStyle/>
          <a:p>
            <a:pPr algn="l">
              <a:lnSpc>
                <a:spcPct val="105000"/>
              </a:lnSpc>
            </a:pPr>
            <a:r>
              <a:rPr sz="1600" b="1" i="0">
                <a:solidFill>
                  <a:srgbClr val="8B84FF"/>
                </a:solidFill>
                <a:latin typeface="Calibri"/>
              </a:rPr>
              <a:t>Objectives</a:t>
            </a:r>
          </a:p>
        </p:txBody>
      </p:sp>
      <p:sp>
        <p:nvSpPr>
          <p:cNvPr id="9" name="TextBox 8"/>
          <p:cNvSpPr txBox="1"/>
          <p:nvPr/>
        </p:nvSpPr>
        <p:spPr>
          <a:xfrm>
            <a:off x="777240" y="2103120"/>
            <a:ext cx="5303520" cy="3840480"/>
          </a:xfrm>
          <a:prstGeom prst="rect">
            <a:avLst/>
          </a:prstGeom>
          <a:noFill/>
        </p:spPr>
        <p:txBody>
          <a:bodyPr wrap="square">
            <a:spAutoFit/>
          </a:bodyPr>
          <a:lstStyle/>
          <a:p>
            <a:pPr>
              <a:lnSpc>
                <a:spcPct val="105000"/>
              </a:lnSpc>
              <a:spcAft>
                <a:spcPts val="1400"/>
              </a:spcAft>
            </a:pPr>
            <a:r>
              <a:rPr sz="1800">
                <a:solidFill>
                  <a:srgbClr val="00D4AA"/>
                </a:solidFill>
                <a:latin typeface="Calibri"/>
              </a:rPr>
              <a:t>▪  </a:t>
            </a:r>
            <a:r>
              <a:rPr sz="1800" b="0">
                <a:solidFill>
                  <a:srgbClr val="E8ECF5"/>
                </a:solidFill>
                <a:latin typeface="Calibri"/>
              </a:rPr>
              <a:t>Clean and combine five SaaS tables into </a:t>
            </a:r>
            <a:r>
              <a:rPr sz="1800" b="1">
                <a:solidFill>
                  <a:srgbClr val="E8ECF5"/>
                </a:solidFill>
                <a:latin typeface="Calibri"/>
              </a:rPr>
              <a:t>one row per account</a:t>
            </a:r>
          </a:p>
          <a:p>
            <a:pPr>
              <a:lnSpc>
                <a:spcPct val="105000"/>
              </a:lnSpc>
              <a:spcAft>
                <a:spcPts val="1400"/>
              </a:spcAft>
            </a:pPr>
            <a:r>
              <a:rPr sz="1800">
                <a:solidFill>
                  <a:srgbClr val="00D4AA"/>
                </a:solidFill>
                <a:latin typeface="Calibri"/>
              </a:rPr>
              <a:t>▪  </a:t>
            </a:r>
            <a:r>
              <a:rPr sz="1800" b="0">
                <a:solidFill>
                  <a:srgbClr val="E8ECF5"/>
                </a:solidFill>
                <a:latin typeface="Calibri"/>
              </a:rPr>
              <a:t>Describe how churn varies by plan, country, industry, tenure and behaviour</a:t>
            </a:r>
          </a:p>
          <a:p>
            <a:pPr>
              <a:lnSpc>
                <a:spcPct val="105000"/>
              </a:lnSpc>
              <a:spcAft>
                <a:spcPts val="1400"/>
              </a:spcAft>
            </a:pPr>
            <a:r>
              <a:rPr sz="1800">
                <a:solidFill>
                  <a:srgbClr val="00D4AA"/>
                </a:solidFill>
                <a:latin typeface="Calibri"/>
              </a:rPr>
              <a:t>▪  </a:t>
            </a:r>
            <a:r>
              <a:rPr sz="1800" b="0">
                <a:solidFill>
                  <a:srgbClr val="E8ECF5"/>
                </a:solidFill>
                <a:latin typeface="Calibri"/>
              </a:rPr>
              <a:t>Train and compare classifiers; choose model and threshold </a:t>
            </a:r>
            <a:r>
              <a:rPr sz="1800" b="1">
                <a:solidFill>
                  <a:srgbClr val="E8ECF5"/>
                </a:solidFill>
                <a:latin typeface="Calibri"/>
              </a:rPr>
              <a:t>without touching the test set</a:t>
            </a:r>
          </a:p>
          <a:p>
            <a:pPr>
              <a:lnSpc>
                <a:spcPct val="105000"/>
              </a:lnSpc>
              <a:spcAft>
                <a:spcPts val="1400"/>
              </a:spcAft>
            </a:pPr>
            <a:r>
              <a:rPr sz="1800">
                <a:solidFill>
                  <a:srgbClr val="00D4AA"/>
                </a:solidFill>
                <a:latin typeface="Calibri"/>
              </a:rPr>
              <a:t>▪  </a:t>
            </a:r>
            <a:r>
              <a:rPr sz="1800" b="0">
                <a:solidFill>
                  <a:srgbClr val="E8ECF5"/>
                </a:solidFill>
                <a:latin typeface="Calibri"/>
              </a:rPr>
              <a:t>Present findings, results and a risk lookup in a </a:t>
            </a:r>
            <a:r>
              <a:rPr sz="1800" b="1">
                <a:solidFill>
                  <a:srgbClr val="E8ECF5"/>
                </a:solidFill>
                <a:latin typeface="Calibri"/>
              </a:rPr>
              <a:t>six-tab Streamlit dashboard</a:t>
            </a:r>
          </a:p>
        </p:txBody>
      </p:sp>
      <p:sp>
        <p:nvSpPr>
          <p:cNvPr id="10" name="Rounded Rectangle 9"/>
          <p:cNvSpPr/>
          <p:nvPr/>
        </p:nvSpPr>
        <p:spPr>
          <a:xfrm>
            <a:off x="6583680" y="1463040"/>
            <a:ext cx="5029200" cy="4663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693408" y="1463040"/>
            <a:ext cx="4809744" cy="45720"/>
          </a:xfrm>
          <a:prstGeom prst="rect">
            <a:avLst/>
          </a:prstGeom>
          <a:solidFill>
            <a:srgbClr val="FFB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2280" y="1645920"/>
            <a:ext cx="4572000" cy="365760"/>
          </a:xfrm>
          <a:prstGeom prst="rect">
            <a:avLst/>
          </a:prstGeom>
          <a:noFill/>
        </p:spPr>
        <p:txBody>
          <a:bodyPr wrap="square" lIns="36576" rIns="36576" tIns="18288" bIns="18288" anchor="t">
            <a:spAutoFit/>
          </a:bodyPr>
          <a:lstStyle/>
          <a:p>
            <a:pPr algn="l">
              <a:lnSpc>
                <a:spcPct val="105000"/>
              </a:lnSpc>
            </a:pPr>
            <a:r>
              <a:rPr sz="1600" b="1" i="0">
                <a:solidFill>
                  <a:srgbClr val="FFB347"/>
                </a:solidFill>
                <a:latin typeface="Calibri"/>
              </a:rPr>
              <a:t>Scope boundaries</a:t>
            </a:r>
          </a:p>
        </p:txBody>
      </p:sp>
      <p:sp>
        <p:nvSpPr>
          <p:cNvPr id="13" name="TextBox 12"/>
          <p:cNvSpPr txBox="1"/>
          <p:nvPr/>
        </p:nvSpPr>
        <p:spPr>
          <a:xfrm>
            <a:off x="6812280" y="2103120"/>
            <a:ext cx="4572000" cy="3840480"/>
          </a:xfrm>
          <a:prstGeom prst="rect">
            <a:avLst/>
          </a:prstGeom>
          <a:noFill/>
        </p:spPr>
        <p:txBody>
          <a:bodyPr wrap="square">
            <a:spAutoFit/>
          </a:bodyPr>
          <a:lstStyle/>
          <a:p>
            <a:pPr>
              <a:lnSpc>
                <a:spcPct val="105000"/>
              </a:lnSpc>
              <a:spcAft>
                <a:spcPts val="1400"/>
              </a:spcAft>
            </a:pPr>
            <a:r>
              <a:rPr sz="1800">
                <a:solidFill>
                  <a:srgbClr val="00D4AA"/>
                </a:solidFill>
                <a:latin typeface="Calibri"/>
              </a:rPr>
              <a:t>▪  </a:t>
            </a:r>
            <a:r>
              <a:rPr sz="1800" b="1">
                <a:solidFill>
                  <a:srgbClr val="E8ECF5"/>
                </a:solidFill>
                <a:latin typeface="Calibri"/>
              </a:rPr>
              <a:t>Synthetic dataset</a:t>
            </a:r>
            <a:r>
              <a:rPr sz="1800" b="0">
                <a:solidFill>
                  <a:srgbClr val="E8ECF5"/>
                </a:solidFill>
                <a:latin typeface="Calibri"/>
              </a:rPr>
              <a:t> (Kaggle) - results describe this data only</a:t>
            </a:r>
          </a:p>
          <a:p>
            <a:pPr>
              <a:lnSpc>
                <a:spcPct val="105000"/>
              </a:lnSpc>
              <a:spcAft>
                <a:spcPts val="1400"/>
              </a:spcAft>
            </a:pPr>
            <a:r>
              <a:rPr sz="1800">
                <a:solidFill>
                  <a:srgbClr val="00D4AA"/>
                </a:solidFill>
                <a:latin typeface="Calibri"/>
              </a:rPr>
              <a:t>▪  </a:t>
            </a:r>
            <a:r>
              <a:rPr sz="1800" b="1">
                <a:solidFill>
                  <a:srgbClr val="E8ECF5"/>
                </a:solidFill>
                <a:latin typeface="Calibri"/>
              </a:rPr>
              <a:t>Associations, not causes</a:t>
            </a:r>
            <a:r>
              <a:rPr sz="1800" b="0">
                <a:solidFill>
                  <a:srgbClr val="E8ECF5"/>
                </a:solidFill>
                <a:latin typeface="Calibri"/>
              </a:rPr>
              <a:t> - no causal claims</a:t>
            </a:r>
          </a:p>
          <a:p>
            <a:pPr>
              <a:lnSpc>
                <a:spcPct val="105000"/>
              </a:lnSpc>
              <a:spcAft>
                <a:spcPts val="1400"/>
              </a:spcAft>
            </a:pPr>
            <a:r>
              <a:rPr sz="1800">
                <a:solidFill>
                  <a:srgbClr val="00D4AA"/>
                </a:solidFill>
                <a:latin typeface="Calibri"/>
              </a:rPr>
              <a:t>▪  </a:t>
            </a:r>
            <a:r>
              <a:rPr sz="1800" b="1">
                <a:solidFill>
                  <a:srgbClr val="E8ECF5"/>
                </a:solidFill>
                <a:latin typeface="Calibri"/>
              </a:rPr>
              <a:t>No operational claims</a:t>
            </a:r>
            <a:r>
              <a:rPr sz="1800" b="0">
                <a:solidFill>
                  <a:srgbClr val="E8ECF5"/>
                </a:solidFill>
                <a:latin typeface="Calibri"/>
              </a:rPr>
              <a:t> - no deployment, real-time scoring or alerts</a:t>
            </a:r>
          </a:p>
          <a:p>
            <a:pPr>
              <a:lnSpc>
                <a:spcPct val="105000"/>
              </a:lnSpc>
              <a:spcAft>
                <a:spcPts val="1400"/>
              </a:spcAft>
            </a:pPr>
            <a:r>
              <a:rPr sz="1800">
                <a:solidFill>
                  <a:srgbClr val="00D4AA"/>
                </a:solidFill>
                <a:latin typeface="Calibri"/>
              </a:rPr>
              <a:t>▪  </a:t>
            </a:r>
            <a:r>
              <a:rPr sz="1800" b="1">
                <a:solidFill>
                  <a:srgbClr val="E8ECF5"/>
                </a:solidFill>
                <a:latin typeface="Calibri"/>
              </a:rPr>
              <a:t>Validation ≠ test</a:t>
            </a:r>
            <a:r>
              <a:rPr sz="1800" b="0">
                <a:solidFill>
                  <a:srgbClr val="E8ECF5"/>
                </a:solidFill>
                <a:latin typeface="Calibri"/>
              </a:rPr>
              <a:t> - metrics are always labelled by split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DATASET</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RavenStack: five related tables, 500 accounts</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3</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sp>
        <p:nvSpPr>
          <p:cNvPr id="6" name="Rounded Rectangle 5"/>
          <p:cNvSpPr/>
          <p:nvPr/>
        </p:nvSpPr>
        <p:spPr>
          <a:xfrm>
            <a:off x="548640" y="1508760"/>
            <a:ext cx="2103120" cy="201168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508760"/>
            <a:ext cx="1883663"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691640"/>
            <a:ext cx="1920240" cy="320040"/>
          </a:xfrm>
          <a:prstGeom prst="rect">
            <a:avLst/>
          </a:prstGeom>
          <a:noFill/>
        </p:spPr>
        <p:txBody>
          <a:bodyPr wrap="square" lIns="36576" rIns="36576" tIns="18288" bIns="18288" anchor="t">
            <a:spAutoFit/>
          </a:bodyPr>
          <a:lstStyle/>
          <a:p>
            <a:pPr algn="l">
              <a:lnSpc>
                <a:spcPct val="105000"/>
              </a:lnSpc>
            </a:pPr>
            <a:r>
              <a:rPr sz="1500" b="1" i="0">
                <a:solidFill>
                  <a:srgbClr val="E8ECF5"/>
                </a:solidFill>
                <a:latin typeface="Calibri"/>
              </a:rPr>
              <a:t>accounts</a:t>
            </a:r>
          </a:p>
        </p:txBody>
      </p:sp>
      <p:sp>
        <p:nvSpPr>
          <p:cNvPr id="9" name="TextBox 8"/>
          <p:cNvSpPr txBox="1"/>
          <p:nvPr/>
        </p:nvSpPr>
        <p:spPr>
          <a:xfrm>
            <a:off x="658368" y="2057400"/>
            <a:ext cx="1920240" cy="457200"/>
          </a:xfrm>
          <a:prstGeom prst="rect">
            <a:avLst/>
          </a:prstGeom>
          <a:noFill/>
        </p:spPr>
        <p:txBody>
          <a:bodyPr wrap="square" lIns="36576" rIns="36576" tIns="18288" bIns="18288" anchor="t">
            <a:spAutoFit/>
          </a:bodyPr>
          <a:lstStyle/>
          <a:p>
            <a:pPr algn="l">
              <a:lnSpc>
                <a:spcPct val="105000"/>
              </a:lnSpc>
            </a:pPr>
            <a:r>
              <a:rPr sz="2200" b="1" i="0">
                <a:solidFill>
                  <a:srgbClr val="8B84FF"/>
                </a:solidFill>
                <a:latin typeface="Calibri"/>
              </a:rPr>
              <a:t>500 × 10</a:t>
            </a:r>
          </a:p>
        </p:txBody>
      </p:sp>
      <p:sp>
        <p:nvSpPr>
          <p:cNvPr id="10" name="TextBox 9"/>
          <p:cNvSpPr txBox="1"/>
          <p:nvPr/>
        </p:nvSpPr>
        <p:spPr>
          <a:xfrm>
            <a:off x="658368" y="2606040"/>
            <a:ext cx="1920240" cy="320040"/>
          </a:xfrm>
          <a:prstGeom prst="rect">
            <a:avLst/>
          </a:prstGeom>
          <a:noFill/>
        </p:spPr>
        <p:txBody>
          <a:bodyPr wrap="square" lIns="36576" rIns="36576" tIns="18288" bIns="18288" anchor="t">
            <a:spAutoFit/>
          </a:bodyPr>
          <a:lstStyle/>
          <a:p>
            <a:pPr algn="l">
              <a:lnSpc>
                <a:spcPct val="105000"/>
              </a:lnSpc>
            </a:pPr>
            <a:r>
              <a:rPr sz="1250" b="0" i="0">
                <a:solidFill>
                  <a:srgbClr val="9AA5BF"/>
                </a:solidFill>
                <a:latin typeface="Calibri"/>
              </a:rPr>
              <a:t>profile + churn_flag</a:t>
            </a:r>
          </a:p>
        </p:txBody>
      </p:sp>
      <p:sp>
        <p:nvSpPr>
          <p:cNvPr id="11" name="TextBox 10"/>
          <p:cNvSpPr txBox="1"/>
          <p:nvPr/>
        </p:nvSpPr>
        <p:spPr>
          <a:xfrm>
            <a:off x="658368" y="3017520"/>
            <a:ext cx="1920240" cy="320040"/>
          </a:xfrm>
          <a:prstGeom prst="rect">
            <a:avLst/>
          </a:prstGeom>
          <a:noFill/>
        </p:spPr>
        <p:txBody>
          <a:bodyPr wrap="square" lIns="36576" rIns="36576" tIns="18288" bIns="18288" anchor="t">
            <a:spAutoFit/>
          </a:bodyPr>
          <a:lstStyle/>
          <a:p>
            <a:pPr algn="l">
              <a:lnSpc>
                <a:spcPct val="105000"/>
              </a:lnSpc>
            </a:pPr>
            <a:r>
              <a:rPr sz="1050" b="0" i="1">
                <a:solidFill>
                  <a:srgbClr val="9AA5BF"/>
                </a:solidFill>
                <a:latin typeface="Calibri"/>
              </a:rPr>
              <a:t>key: account_id</a:t>
            </a:r>
          </a:p>
        </p:txBody>
      </p:sp>
      <p:sp>
        <p:nvSpPr>
          <p:cNvPr id="12" name="Rounded Rectangle 11"/>
          <p:cNvSpPr/>
          <p:nvPr/>
        </p:nvSpPr>
        <p:spPr>
          <a:xfrm>
            <a:off x="2788920" y="1508760"/>
            <a:ext cx="2103120" cy="201168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898648" y="1508760"/>
            <a:ext cx="1883663"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898648" y="1691640"/>
            <a:ext cx="1920240" cy="320040"/>
          </a:xfrm>
          <a:prstGeom prst="rect">
            <a:avLst/>
          </a:prstGeom>
          <a:noFill/>
        </p:spPr>
        <p:txBody>
          <a:bodyPr wrap="square" lIns="36576" rIns="36576" tIns="18288" bIns="18288" anchor="t">
            <a:spAutoFit/>
          </a:bodyPr>
          <a:lstStyle/>
          <a:p>
            <a:pPr algn="l">
              <a:lnSpc>
                <a:spcPct val="105000"/>
              </a:lnSpc>
            </a:pPr>
            <a:r>
              <a:rPr sz="1500" b="1" i="0">
                <a:solidFill>
                  <a:srgbClr val="E8ECF5"/>
                </a:solidFill>
                <a:latin typeface="Calibri"/>
              </a:rPr>
              <a:t>subscriptions</a:t>
            </a:r>
          </a:p>
        </p:txBody>
      </p:sp>
      <p:sp>
        <p:nvSpPr>
          <p:cNvPr id="15" name="TextBox 14"/>
          <p:cNvSpPr txBox="1"/>
          <p:nvPr/>
        </p:nvSpPr>
        <p:spPr>
          <a:xfrm>
            <a:off x="2898648" y="2057400"/>
            <a:ext cx="1920240" cy="457200"/>
          </a:xfrm>
          <a:prstGeom prst="rect">
            <a:avLst/>
          </a:prstGeom>
          <a:noFill/>
        </p:spPr>
        <p:txBody>
          <a:bodyPr wrap="square" lIns="36576" rIns="36576" tIns="18288" bIns="18288" anchor="t">
            <a:spAutoFit/>
          </a:bodyPr>
          <a:lstStyle/>
          <a:p>
            <a:pPr algn="l">
              <a:lnSpc>
                <a:spcPct val="105000"/>
              </a:lnSpc>
            </a:pPr>
            <a:r>
              <a:rPr sz="2200" b="1" i="0">
                <a:solidFill>
                  <a:srgbClr val="00D4AA"/>
                </a:solidFill>
                <a:latin typeface="Calibri"/>
              </a:rPr>
              <a:t>5,000 × 14</a:t>
            </a:r>
          </a:p>
        </p:txBody>
      </p:sp>
      <p:sp>
        <p:nvSpPr>
          <p:cNvPr id="16" name="TextBox 15"/>
          <p:cNvSpPr txBox="1"/>
          <p:nvPr/>
        </p:nvSpPr>
        <p:spPr>
          <a:xfrm>
            <a:off x="2898648" y="2606040"/>
            <a:ext cx="1920240" cy="320040"/>
          </a:xfrm>
          <a:prstGeom prst="rect">
            <a:avLst/>
          </a:prstGeom>
          <a:noFill/>
        </p:spPr>
        <p:txBody>
          <a:bodyPr wrap="square" lIns="36576" rIns="36576" tIns="18288" bIns="18288" anchor="t">
            <a:spAutoFit/>
          </a:bodyPr>
          <a:lstStyle/>
          <a:p>
            <a:pPr algn="l">
              <a:lnSpc>
                <a:spcPct val="105000"/>
              </a:lnSpc>
            </a:pPr>
            <a:r>
              <a:rPr sz="1250" b="0" i="0">
                <a:solidFill>
                  <a:srgbClr val="9AA5BF"/>
                </a:solidFill>
                <a:latin typeface="Calibri"/>
              </a:rPr>
              <a:t>MRR, plan, flags</a:t>
            </a:r>
          </a:p>
        </p:txBody>
      </p:sp>
      <p:sp>
        <p:nvSpPr>
          <p:cNvPr id="17" name="TextBox 16"/>
          <p:cNvSpPr txBox="1"/>
          <p:nvPr/>
        </p:nvSpPr>
        <p:spPr>
          <a:xfrm>
            <a:off x="2898648" y="3017520"/>
            <a:ext cx="1920240" cy="320040"/>
          </a:xfrm>
          <a:prstGeom prst="rect">
            <a:avLst/>
          </a:prstGeom>
          <a:noFill/>
        </p:spPr>
        <p:txBody>
          <a:bodyPr wrap="square" lIns="36576" rIns="36576" tIns="18288" bIns="18288" anchor="t">
            <a:spAutoFit/>
          </a:bodyPr>
          <a:lstStyle/>
          <a:p>
            <a:pPr algn="l">
              <a:lnSpc>
                <a:spcPct val="105000"/>
              </a:lnSpc>
            </a:pPr>
            <a:r>
              <a:rPr sz="1050" b="0" i="1">
                <a:solidFill>
                  <a:srgbClr val="9AA5BF"/>
                </a:solidFill>
                <a:latin typeface="Calibri"/>
              </a:rPr>
              <a:t>key: account_id</a:t>
            </a:r>
          </a:p>
        </p:txBody>
      </p:sp>
      <p:sp>
        <p:nvSpPr>
          <p:cNvPr id="18" name="Rounded Rectangle 17"/>
          <p:cNvSpPr/>
          <p:nvPr/>
        </p:nvSpPr>
        <p:spPr>
          <a:xfrm>
            <a:off x="5029200" y="1508760"/>
            <a:ext cx="2103120" cy="201168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138928" y="1508760"/>
            <a:ext cx="1883663" cy="45720"/>
          </a:xfrm>
          <a:prstGeom prst="rect">
            <a:avLst/>
          </a:prstGeom>
          <a:solidFill>
            <a:srgbClr val="FFB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138928" y="1691640"/>
            <a:ext cx="1920240" cy="320040"/>
          </a:xfrm>
          <a:prstGeom prst="rect">
            <a:avLst/>
          </a:prstGeom>
          <a:noFill/>
        </p:spPr>
        <p:txBody>
          <a:bodyPr wrap="square" lIns="36576" rIns="36576" tIns="18288" bIns="18288" anchor="t">
            <a:spAutoFit/>
          </a:bodyPr>
          <a:lstStyle/>
          <a:p>
            <a:pPr algn="l">
              <a:lnSpc>
                <a:spcPct val="105000"/>
              </a:lnSpc>
            </a:pPr>
            <a:r>
              <a:rPr sz="1500" b="1" i="0">
                <a:solidFill>
                  <a:srgbClr val="E8ECF5"/>
                </a:solidFill>
                <a:latin typeface="Calibri"/>
              </a:rPr>
              <a:t>feature_usage</a:t>
            </a:r>
          </a:p>
        </p:txBody>
      </p:sp>
      <p:sp>
        <p:nvSpPr>
          <p:cNvPr id="21" name="TextBox 20"/>
          <p:cNvSpPr txBox="1"/>
          <p:nvPr/>
        </p:nvSpPr>
        <p:spPr>
          <a:xfrm>
            <a:off x="5138928" y="2057400"/>
            <a:ext cx="1920240" cy="457200"/>
          </a:xfrm>
          <a:prstGeom prst="rect">
            <a:avLst/>
          </a:prstGeom>
          <a:noFill/>
        </p:spPr>
        <p:txBody>
          <a:bodyPr wrap="square" lIns="36576" rIns="36576" tIns="18288" bIns="18288" anchor="t">
            <a:spAutoFit/>
          </a:bodyPr>
          <a:lstStyle/>
          <a:p>
            <a:pPr algn="l">
              <a:lnSpc>
                <a:spcPct val="105000"/>
              </a:lnSpc>
            </a:pPr>
            <a:r>
              <a:rPr sz="2200" b="1" i="0">
                <a:solidFill>
                  <a:srgbClr val="FFB347"/>
                </a:solidFill>
                <a:latin typeface="Calibri"/>
              </a:rPr>
              <a:t>25,000 × 8</a:t>
            </a:r>
          </a:p>
        </p:txBody>
      </p:sp>
      <p:sp>
        <p:nvSpPr>
          <p:cNvPr id="22" name="TextBox 21"/>
          <p:cNvSpPr txBox="1"/>
          <p:nvPr/>
        </p:nvSpPr>
        <p:spPr>
          <a:xfrm>
            <a:off x="5138928" y="2606040"/>
            <a:ext cx="1920240" cy="320040"/>
          </a:xfrm>
          <a:prstGeom prst="rect">
            <a:avLst/>
          </a:prstGeom>
          <a:noFill/>
        </p:spPr>
        <p:txBody>
          <a:bodyPr wrap="square" lIns="36576" rIns="36576" tIns="18288" bIns="18288" anchor="t">
            <a:spAutoFit/>
          </a:bodyPr>
          <a:lstStyle/>
          <a:p>
            <a:pPr algn="l">
              <a:lnSpc>
                <a:spcPct val="105000"/>
              </a:lnSpc>
            </a:pPr>
            <a:r>
              <a:rPr sz="1250" b="0" i="0">
                <a:solidFill>
                  <a:srgbClr val="9AA5BF"/>
                </a:solidFill>
                <a:latin typeface="Calibri"/>
              </a:rPr>
              <a:t>usage, errors, beta</a:t>
            </a:r>
          </a:p>
        </p:txBody>
      </p:sp>
      <p:sp>
        <p:nvSpPr>
          <p:cNvPr id="23" name="TextBox 22"/>
          <p:cNvSpPr txBox="1"/>
          <p:nvPr/>
        </p:nvSpPr>
        <p:spPr>
          <a:xfrm>
            <a:off x="5138928" y="3017520"/>
            <a:ext cx="1920240" cy="320040"/>
          </a:xfrm>
          <a:prstGeom prst="rect">
            <a:avLst/>
          </a:prstGeom>
          <a:noFill/>
        </p:spPr>
        <p:txBody>
          <a:bodyPr wrap="square" lIns="36576" rIns="36576" tIns="18288" bIns="18288" anchor="t">
            <a:spAutoFit/>
          </a:bodyPr>
          <a:lstStyle/>
          <a:p>
            <a:pPr algn="l">
              <a:lnSpc>
                <a:spcPct val="105000"/>
              </a:lnSpc>
            </a:pPr>
            <a:r>
              <a:rPr sz="1050" b="0" i="1">
                <a:solidFill>
                  <a:srgbClr val="9AA5BF"/>
                </a:solidFill>
                <a:latin typeface="Calibri"/>
              </a:rPr>
              <a:t>key: subscription_id</a:t>
            </a:r>
          </a:p>
        </p:txBody>
      </p:sp>
      <p:sp>
        <p:nvSpPr>
          <p:cNvPr id="24" name="Rounded Rectangle 23"/>
          <p:cNvSpPr/>
          <p:nvPr/>
        </p:nvSpPr>
        <p:spPr>
          <a:xfrm>
            <a:off x="7269480" y="1508760"/>
            <a:ext cx="2103120" cy="201168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7379208" y="1508760"/>
            <a:ext cx="1883663" cy="4572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79208" y="1691640"/>
            <a:ext cx="1920240" cy="320040"/>
          </a:xfrm>
          <a:prstGeom prst="rect">
            <a:avLst/>
          </a:prstGeom>
          <a:noFill/>
        </p:spPr>
        <p:txBody>
          <a:bodyPr wrap="square" lIns="36576" rIns="36576" tIns="18288" bIns="18288" anchor="t">
            <a:spAutoFit/>
          </a:bodyPr>
          <a:lstStyle/>
          <a:p>
            <a:pPr algn="l">
              <a:lnSpc>
                <a:spcPct val="105000"/>
              </a:lnSpc>
            </a:pPr>
            <a:r>
              <a:rPr sz="1500" b="1" i="0">
                <a:solidFill>
                  <a:srgbClr val="E8ECF5"/>
                </a:solidFill>
                <a:latin typeface="Calibri"/>
              </a:rPr>
              <a:t>support_tickets</a:t>
            </a:r>
          </a:p>
        </p:txBody>
      </p:sp>
      <p:sp>
        <p:nvSpPr>
          <p:cNvPr id="27" name="TextBox 26"/>
          <p:cNvSpPr txBox="1"/>
          <p:nvPr/>
        </p:nvSpPr>
        <p:spPr>
          <a:xfrm>
            <a:off x="7379208" y="2057400"/>
            <a:ext cx="1920240" cy="457200"/>
          </a:xfrm>
          <a:prstGeom prst="rect">
            <a:avLst/>
          </a:prstGeom>
          <a:noFill/>
        </p:spPr>
        <p:txBody>
          <a:bodyPr wrap="square" lIns="36576" rIns="36576" tIns="18288" bIns="18288" anchor="t">
            <a:spAutoFit/>
          </a:bodyPr>
          <a:lstStyle/>
          <a:p>
            <a:pPr algn="l">
              <a:lnSpc>
                <a:spcPct val="105000"/>
              </a:lnSpc>
            </a:pPr>
            <a:r>
              <a:rPr sz="2200" b="1" i="0">
                <a:solidFill>
                  <a:srgbClr val="FF6B6B"/>
                </a:solidFill>
                <a:latin typeface="Calibri"/>
              </a:rPr>
              <a:t>2,000 × 9</a:t>
            </a:r>
          </a:p>
        </p:txBody>
      </p:sp>
      <p:sp>
        <p:nvSpPr>
          <p:cNvPr id="28" name="TextBox 27"/>
          <p:cNvSpPr txBox="1"/>
          <p:nvPr/>
        </p:nvSpPr>
        <p:spPr>
          <a:xfrm>
            <a:off x="7379208" y="2606040"/>
            <a:ext cx="1920240" cy="320040"/>
          </a:xfrm>
          <a:prstGeom prst="rect">
            <a:avLst/>
          </a:prstGeom>
          <a:noFill/>
        </p:spPr>
        <p:txBody>
          <a:bodyPr wrap="square" lIns="36576" rIns="36576" tIns="18288" bIns="18288" anchor="t">
            <a:spAutoFit/>
          </a:bodyPr>
          <a:lstStyle/>
          <a:p>
            <a:pPr algn="l">
              <a:lnSpc>
                <a:spcPct val="105000"/>
              </a:lnSpc>
            </a:pPr>
            <a:r>
              <a:rPr sz="1250" b="0" i="0">
                <a:solidFill>
                  <a:srgbClr val="9AA5BF"/>
                </a:solidFill>
                <a:latin typeface="Calibri"/>
              </a:rPr>
              <a:t>response, satisfaction</a:t>
            </a:r>
          </a:p>
        </p:txBody>
      </p:sp>
      <p:sp>
        <p:nvSpPr>
          <p:cNvPr id="29" name="TextBox 28"/>
          <p:cNvSpPr txBox="1"/>
          <p:nvPr/>
        </p:nvSpPr>
        <p:spPr>
          <a:xfrm>
            <a:off x="7379208" y="3017520"/>
            <a:ext cx="1920240" cy="320040"/>
          </a:xfrm>
          <a:prstGeom prst="rect">
            <a:avLst/>
          </a:prstGeom>
          <a:noFill/>
        </p:spPr>
        <p:txBody>
          <a:bodyPr wrap="square" lIns="36576" rIns="36576" tIns="18288" bIns="18288" anchor="t">
            <a:spAutoFit/>
          </a:bodyPr>
          <a:lstStyle/>
          <a:p>
            <a:pPr algn="l">
              <a:lnSpc>
                <a:spcPct val="105000"/>
              </a:lnSpc>
            </a:pPr>
            <a:r>
              <a:rPr sz="1050" b="0" i="1">
                <a:solidFill>
                  <a:srgbClr val="9AA5BF"/>
                </a:solidFill>
                <a:latin typeface="Calibri"/>
              </a:rPr>
              <a:t>key: account_id</a:t>
            </a:r>
          </a:p>
        </p:txBody>
      </p:sp>
      <p:sp>
        <p:nvSpPr>
          <p:cNvPr id="30" name="Rounded Rectangle 29"/>
          <p:cNvSpPr/>
          <p:nvPr/>
        </p:nvSpPr>
        <p:spPr>
          <a:xfrm>
            <a:off x="9509760" y="1508760"/>
            <a:ext cx="2103120" cy="201168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619488" y="1508760"/>
            <a:ext cx="1883663" cy="45720"/>
          </a:xfrm>
          <a:prstGeom prst="rect">
            <a:avLst/>
          </a:prstGeom>
          <a:solidFill>
            <a:srgbClr val="9AA5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619488" y="1691640"/>
            <a:ext cx="1920240" cy="320040"/>
          </a:xfrm>
          <a:prstGeom prst="rect">
            <a:avLst/>
          </a:prstGeom>
          <a:noFill/>
        </p:spPr>
        <p:txBody>
          <a:bodyPr wrap="square" lIns="36576" rIns="36576" tIns="18288" bIns="18288" anchor="t">
            <a:spAutoFit/>
          </a:bodyPr>
          <a:lstStyle/>
          <a:p>
            <a:pPr algn="l">
              <a:lnSpc>
                <a:spcPct val="105000"/>
              </a:lnSpc>
            </a:pPr>
            <a:r>
              <a:rPr sz="1500" b="1" i="0">
                <a:solidFill>
                  <a:srgbClr val="E8ECF5"/>
                </a:solidFill>
                <a:latin typeface="Calibri"/>
              </a:rPr>
              <a:t>churn_events</a:t>
            </a:r>
          </a:p>
        </p:txBody>
      </p:sp>
      <p:sp>
        <p:nvSpPr>
          <p:cNvPr id="33" name="TextBox 32"/>
          <p:cNvSpPr txBox="1"/>
          <p:nvPr/>
        </p:nvSpPr>
        <p:spPr>
          <a:xfrm>
            <a:off x="9619488" y="2057400"/>
            <a:ext cx="1920240" cy="457200"/>
          </a:xfrm>
          <a:prstGeom prst="rect">
            <a:avLst/>
          </a:prstGeom>
          <a:noFill/>
        </p:spPr>
        <p:txBody>
          <a:bodyPr wrap="square" lIns="36576" rIns="36576" tIns="18288" bIns="18288" anchor="t">
            <a:spAutoFit/>
          </a:bodyPr>
          <a:lstStyle/>
          <a:p>
            <a:pPr algn="l">
              <a:lnSpc>
                <a:spcPct val="105000"/>
              </a:lnSpc>
            </a:pPr>
            <a:r>
              <a:rPr sz="2200" b="1" i="0">
                <a:solidFill>
                  <a:srgbClr val="9AA5BF"/>
                </a:solidFill>
                <a:latin typeface="Calibri"/>
              </a:rPr>
              <a:t>600 × 9</a:t>
            </a:r>
          </a:p>
        </p:txBody>
      </p:sp>
      <p:sp>
        <p:nvSpPr>
          <p:cNvPr id="34" name="TextBox 33"/>
          <p:cNvSpPr txBox="1"/>
          <p:nvPr/>
        </p:nvSpPr>
        <p:spPr>
          <a:xfrm>
            <a:off x="9619488" y="2606040"/>
            <a:ext cx="1920240" cy="320040"/>
          </a:xfrm>
          <a:prstGeom prst="rect">
            <a:avLst/>
          </a:prstGeom>
          <a:noFill/>
        </p:spPr>
        <p:txBody>
          <a:bodyPr wrap="square" lIns="36576" rIns="36576" tIns="18288" bIns="18288" anchor="t">
            <a:spAutoFit/>
          </a:bodyPr>
          <a:lstStyle/>
          <a:p>
            <a:pPr algn="l">
              <a:lnSpc>
                <a:spcPct val="105000"/>
              </a:lnSpc>
            </a:pPr>
            <a:r>
              <a:rPr sz="1250" b="0" i="0">
                <a:solidFill>
                  <a:srgbClr val="9AA5BF"/>
                </a:solidFill>
                <a:latin typeface="Calibri"/>
              </a:rPr>
              <a:t>date, reason, refund</a:t>
            </a:r>
          </a:p>
        </p:txBody>
      </p:sp>
      <p:sp>
        <p:nvSpPr>
          <p:cNvPr id="35" name="TextBox 34"/>
          <p:cNvSpPr txBox="1"/>
          <p:nvPr/>
        </p:nvSpPr>
        <p:spPr>
          <a:xfrm>
            <a:off x="9619488" y="3017520"/>
            <a:ext cx="1920240" cy="320040"/>
          </a:xfrm>
          <a:prstGeom prst="rect">
            <a:avLst/>
          </a:prstGeom>
          <a:noFill/>
        </p:spPr>
        <p:txBody>
          <a:bodyPr wrap="square" lIns="36576" rIns="36576" tIns="18288" bIns="18288" anchor="t">
            <a:spAutoFit/>
          </a:bodyPr>
          <a:lstStyle/>
          <a:p>
            <a:pPr algn="l">
              <a:lnSpc>
                <a:spcPct val="105000"/>
              </a:lnSpc>
            </a:pPr>
            <a:r>
              <a:rPr sz="1050" b="0" i="1">
                <a:solidFill>
                  <a:srgbClr val="9AA5BF"/>
                </a:solidFill>
                <a:latin typeface="Calibri"/>
              </a:rPr>
              <a:t>key: account_id</a:t>
            </a:r>
          </a:p>
        </p:txBody>
      </p:sp>
      <p:sp>
        <p:nvSpPr>
          <p:cNvPr id="36" name="Rounded Rectangle 35"/>
          <p:cNvSpPr/>
          <p:nvPr/>
        </p:nvSpPr>
        <p:spPr>
          <a:xfrm>
            <a:off x="548640" y="3794760"/>
            <a:ext cx="5394960" cy="233172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58368" y="3794760"/>
            <a:ext cx="5175504"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77240" y="3977639"/>
            <a:ext cx="4937760" cy="365760"/>
          </a:xfrm>
          <a:prstGeom prst="rect">
            <a:avLst/>
          </a:prstGeom>
          <a:noFill/>
        </p:spPr>
        <p:txBody>
          <a:bodyPr wrap="square" lIns="36576" rIns="36576" tIns="18288" bIns="18288" anchor="t">
            <a:spAutoFit/>
          </a:bodyPr>
          <a:lstStyle/>
          <a:p>
            <a:pPr algn="l">
              <a:lnSpc>
                <a:spcPct val="105000"/>
              </a:lnSpc>
            </a:pPr>
            <a:r>
              <a:rPr sz="1600" b="1" i="0">
                <a:solidFill>
                  <a:srgbClr val="00D4AA"/>
                </a:solidFill>
                <a:latin typeface="Calibri"/>
              </a:rPr>
              <a:t>Target: churn_flag</a:t>
            </a:r>
          </a:p>
        </p:txBody>
      </p:sp>
      <p:sp>
        <p:nvSpPr>
          <p:cNvPr id="39" name="TextBox 38"/>
          <p:cNvSpPr txBox="1"/>
          <p:nvPr/>
        </p:nvSpPr>
        <p:spPr>
          <a:xfrm>
            <a:off x="777240" y="4434840"/>
            <a:ext cx="4937760" cy="822960"/>
          </a:xfrm>
          <a:prstGeom prst="rect">
            <a:avLst/>
          </a:prstGeom>
          <a:noFill/>
        </p:spPr>
        <p:txBody>
          <a:bodyPr wrap="square" lIns="36576" rIns="36576" tIns="18288" bIns="18288" anchor="t">
            <a:spAutoFit/>
          </a:bodyPr>
          <a:lstStyle/>
          <a:p>
            <a:pPr algn="l">
              <a:lnSpc>
                <a:spcPct val="105000"/>
              </a:lnSpc>
            </a:pPr>
            <a:r>
              <a:rPr sz="2400" b="1" i="0">
                <a:solidFill>
                  <a:srgbClr val="E8ECF5"/>
                </a:solidFill>
                <a:latin typeface="Calibri"/>
              </a:rPr>
              <a:t>110 churned  ·  390 retained</a:t>
            </a:r>
          </a:p>
        </p:txBody>
      </p:sp>
      <p:sp>
        <p:nvSpPr>
          <p:cNvPr id="40" name="TextBox 39"/>
          <p:cNvSpPr txBox="1"/>
          <p:nvPr/>
        </p:nvSpPr>
        <p:spPr>
          <a:xfrm>
            <a:off x="777240" y="5120640"/>
            <a:ext cx="4937760" cy="822960"/>
          </a:xfrm>
          <a:prstGeom prst="rect">
            <a:avLst/>
          </a:prstGeom>
          <a:noFill/>
        </p:spPr>
        <p:txBody>
          <a:bodyPr wrap="square" lIns="36576" rIns="36576" tIns="18288" bIns="18288" anchor="t">
            <a:spAutoFit/>
          </a:bodyPr>
          <a:lstStyle/>
          <a:p>
            <a:pPr algn="l">
              <a:lnSpc>
                <a:spcPct val="105000"/>
              </a:lnSpc>
            </a:pPr>
            <a:r>
              <a:rPr sz="1400" b="0" i="0">
                <a:solidFill>
                  <a:srgbClr val="9AA5BF"/>
                </a:solidFill>
                <a:latin typeface="Calibri"/>
              </a:rPr>
              <a:t>22.0% churn rate. The flag is used as supplied; how it was derived is not visible in the project code.</a:t>
            </a:r>
          </a:p>
        </p:txBody>
      </p:sp>
      <p:sp>
        <p:nvSpPr>
          <p:cNvPr id="41" name="Rounded Rectangle 40"/>
          <p:cNvSpPr/>
          <p:nvPr/>
        </p:nvSpPr>
        <p:spPr>
          <a:xfrm>
            <a:off x="6217920" y="3794760"/>
            <a:ext cx="5394960" cy="233172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6327648" y="3794760"/>
            <a:ext cx="5175504"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446520" y="3977639"/>
            <a:ext cx="4937760" cy="365760"/>
          </a:xfrm>
          <a:prstGeom prst="rect">
            <a:avLst/>
          </a:prstGeom>
          <a:noFill/>
        </p:spPr>
        <p:txBody>
          <a:bodyPr wrap="square" lIns="36576" rIns="36576" tIns="18288" bIns="18288" anchor="t">
            <a:spAutoFit/>
          </a:bodyPr>
          <a:lstStyle/>
          <a:p>
            <a:pPr algn="l">
              <a:lnSpc>
                <a:spcPct val="105000"/>
              </a:lnSpc>
            </a:pPr>
            <a:r>
              <a:rPr sz="1600" b="1" i="0">
                <a:solidFill>
                  <a:srgbClr val="8B84FF"/>
                </a:solidFill>
                <a:latin typeface="Calibri"/>
              </a:rPr>
              <a:t>Source and data quality</a:t>
            </a:r>
          </a:p>
        </p:txBody>
      </p:sp>
      <p:sp>
        <p:nvSpPr>
          <p:cNvPr id="44" name="TextBox 43"/>
          <p:cNvSpPr txBox="1"/>
          <p:nvPr/>
        </p:nvSpPr>
        <p:spPr>
          <a:xfrm>
            <a:off x="6446520" y="4434840"/>
            <a:ext cx="4937760" cy="1645920"/>
          </a:xfrm>
          <a:prstGeom prst="rect">
            <a:avLst/>
          </a:prstGeom>
          <a:noFill/>
        </p:spPr>
        <p:txBody>
          <a:bodyPr wrap="square">
            <a:spAutoFit/>
          </a:bodyPr>
          <a:lstStyle/>
          <a:p>
            <a:pPr>
              <a:lnSpc>
                <a:spcPct val="105000"/>
              </a:lnSpc>
              <a:spcAft>
                <a:spcPts val="600"/>
              </a:spcAft>
            </a:pPr>
            <a:r>
              <a:rPr sz="1400">
                <a:solidFill>
                  <a:srgbClr val="00D4AA"/>
                </a:solidFill>
                <a:latin typeface="Calibri"/>
              </a:rPr>
              <a:t>▪  </a:t>
            </a:r>
            <a:r>
              <a:rPr sz="1400" b="0">
                <a:solidFill>
                  <a:srgbClr val="E8ECF5"/>
                </a:solidFill>
                <a:latin typeface="Calibri"/>
              </a:rPr>
              <a:t>Kaggle: SaaS Subscription &amp; Churn Analytics (River @ Rivalytics)</a:t>
            </a:r>
          </a:p>
          <a:p>
            <a:pPr>
              <a:lnSpc>
                <a:spcPct val="105000"/>
              </a:lnSpc>
              <a:spcAft>
                <a:spcPts val="600"/>
              </a:spcAft>
            </a:pPr>
            <a:r>
              <a:rPr sz="1400">
                <a:solidFill>
                  <a:srgbClr val="00D4AA"/>
                </a:solidFill>
                <a:latin typeface="Calibri"/>
              </a:rPr>
              <a:t>▪  </a:t>
            </a:r>
            <a:r>
              <a:rPr sz="1400" b="0">
                <a:solidFill>
                  <a:srgbClr val="E8ECF5"/>
                </a:solidFill>
                <a:latin typeface="Calibri"/>
              </a:rPr>
              <a:t>Public descriptions call it </a:t>
            </a:r>
            <a:r>
              <a:rPr sz="1400" b="1">
                <a:solidFill>
                  <a:srgbClr val="E8ECF5"/>
                </a:solidFill>
                <a:latin typeface="Calibri"/>
              </a:rPr>
              <a:t>synthetic</a:t>
            </a:r>
          </a:p>
          <a:p>
            <a:pPr>
              <a:lnSpc>
                <a:spcPct val="105000"/>
              </a:lnSpc>
              <a:spcAft>
                <a:spcPts val="600"/>
              </a:spcAft>
            </a:pPr>
            <a:r>
              <a:rPr sz="1400">
                <a:solidFill>
                  <a:srgbClr val="00D4AA"/>
                </a:solidFill>
                <a:latin typeface="Calibri"/>
              </a:rPr>
              <a:t>▪  </a:t>
            </a:r>
            <a:r>
              <a:rPr sz="1400" b="0">
                <a:solidFill>
                  <a:srgbClr val="E8ECF5"/>
                </a:solidFill>
                <a:latin typeface="Calibri"/>
              </a:rPr>
              <a:t>No duplicate rows; missing values only in end_date, satisfaction_score and feedback_text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SYSTEM DESIGN</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From raw CSVs to an interactive dashboard</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4</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sp>
        <p:nvSpPr>
          <p:cNvPr id="6" name="Rounded Rectangle 5"/>
          <p:cNvSpPr/>
          <p:nvPr/>
        </p:nvSpPr>
        <p:spPr>
          <a:xfrm>
            <a:off x="457200" y="2651760"/>
            <a:ext cx="1737360" cy="137160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2651760"/>
            <a:ext cx="1517904" cy="45720"/>
          </a:xfrm>
          <a:prstGeom prst="rect">
            <a:avLst/>
          </a:prstGeom>
          <a:solidFill>
            <a:srgbClr val="FFB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779776"/>
            <a:ext cx="1554480" cy="320040"/>
          </a:xfrm>
          <a:prstGeom prst="rect">
            <a:avLst/>
          </a:prstGeom>
          <a:noFill/>
        </p:spPr>
        <p:txBody>
          <a:bodyPr wrap="square" lIns="36576" rIns="36576" tIns="18288" bIns="18288" anchor="t">
            <a:spAutoFit/>
          </a:bodyPr>
          <a:lstStyle/>
          <a:p>
            <a:pPr algn="ctr">
              <a:lnSpc>
                <a:spcPct val="105000"/>
              </a:lnSpc>
            </a:pPr>
            <a:r>
              <a:rPr sz="1400" b="1" i="0">
                <a:solidFill>
                  <a:srgbClr val="E8ECF5"/>
                </a:solidFill>
                <a:latin typeface="Calibri"/>
              </a:rPr>
              <a:t>Kaggle data</a:t>
            </a:r>
          </a:p>
        </p:txBody>
      </p:sp>
      <p:sp>
        <p:nvSpPr>
          <p:cNvPr id="9" name="TextBox 8"/>
          <p:cNvSpPr txBox="1"/>
          <p:nvPr/>
        </p:nvSpPr>
        <p:spPr>
          <a:xfrm>
            <a:off x="548640" y="3127248"/>
            <a:ext cx="1554480" cy="822960"/>
          </a:xfrm>
          <a:prstGeom prst="rect">
            <a:avLst/>
          </a:prstGeom>
          <a:noFill/>
        </p:spPr>
        <p:txBody>
          <a:bodyPr wrap="square" lIns="36576" rIns="36576" tIns="18288" bIns="18288" anchor="t">
            <a:spAutoFit/>
          </a:bodyPr>
          <a:lstStyle/>
          <a:p>
            <a:pPr algn="ctr">
              <a:lnSpc>
                <a:spcPct val="105000"/>
              </a:lnSpc>
            </a:pPr>
            <a:r>
              <a:rPr sz="1200" b="0" i="0">
                <a:solidFill>
                  <a:srgbClr val="9AA5BF"/>
                </a:solidFill>
                <a:latin typeface="Calibri"/>
              </a:rPr>
              <a:t>5 CSV tables</a:t>
            </a:r>
          </a:p>
        </p:txBody>
      </p:sp>
      <p:sp>
        <p:nvSpPr>
          <p:cNvPr id="10" name="Rounded Rectangle 9"/>
          <p:cNvSpPr/>
          <p:nvPr/>
        </p:nvSpPr>
        <p:spPr>
          <a:xfrm>
            <a:off x="2743200" y="1554480"/>
            <a:ext cx="2103120" cy="1234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2852928" y="1554480"/>
            <a:ext cx="1883663"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834640" y="1682495"/>
            <a:ext cx="1920239" cy="320040"/>
          </a:xfrm>
          <a:prstGeom prst="rect">
            <a:avLst/>
          </a:prstGeom>
          <a:noFill/>
        </p:spPr>
        <p:txBody>
          <a:bodyPr wrap="square" lIns="36576" rIns="36576" tIns="18288" bIns="18288" anchor="t">
            <a:spAutoFit/>
          </a:bodyPr>
          <a:lstStyle/>
          <a:p>
            <a:pPr algn="ctr">
              <a:lnSpc>
                <a:spcPct val="105000"/>
              </a:lnSpc>
            </a:pPr>
            <a:r>
              <a:rPr sz="1400" b="1" i="0">
                <a:solidFill>
                  <a:srgbClr val="E8ECF5"/>
                </a:solidFill>
                <a:latin typeface="Calibri"/>
              </a:rPr>
              <a:t>01  Cleaning</a:t>
            </a:r>
          </a:p>
        </p:txBody>
      </p:sp>
      <p:sp>
        <p:nvSpPr>
          <p:cNvPr id="13" name="TextBox 12"/>
          <p:cNvSpPr txBox="1"/>
          <p:nvPr/>
        </p:nvSpPr>
        <p:spPr>
          <a:xfrm>
            <a:off x="2834640" y="2029967"/>
            <a:ext cx="1920239" cy="685800"/>
          </a:xfrm>
          <a:prstGeom prst="rect">
            <a:avLst/>
          </a:prstGeom>
          <a:noFill/>
        </p:spPr>
        <p:txBody>
          <a:bodyPr wrap="square" lIns="36576" rIns="36576" tIns="18288" bIns="18288" anchor="t">
            <a:spAutoFit/>
          </a:bodyPr>
          <a:lstStyle/>
          <a:p>
            <a:pPr algn="ctr">
              <a:lnSpc>
                <a:spcPct val="105000"/>
              </a:lnSpc>
            </a:pPr>
            <a:r>
              <a:rPr sz="1200" b="0" i="0">
                <a:solidFill>
                  <a:srgbClr val="9AA5BF"/>
                </a:solidFill>
                <a:latin typeface="Calibri"/>
              </a:rPr>
              <a:t>types, dates; 5 cleaned tables</a:t>
            </a:r>
          </a:p>
        </p:txBody>
      </p:sp>
      <p:sp>
        <p:nvSpPr>
          <p:cNvPr id="14" name="Rounded Rectangle 13"/>
          <p:cNvSpPr/>
          <p:nvPr/>
        </p:nvSpPr>
        <p:spPr>
          <a:xfrm>
            <a:off x="2743200" y="3108960"/>
            <a:ext cx="2103120" cy="1234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852928" y="3108960"/>
            <a:ext cx="1883663"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834640" y="3236976"/>
            <a:ext cx="1920239" cy="320040"/>
          </a:xfrm>
          <a:prstGeom prst="rect">
            <a:avLst/>
          </a:prstGeom>
          <a:noFill/>
        </p:spPr>
        <p:txBody>
          <a:bodyPr wrap="square" lIns="36576" rIns="36576" tIns="18288" bIns="18288" anchor="t">
            <a:spAutoFit/>
          </a:bodyPr>
          <a:lstStyle/>
          <a:p>
            <a:pPr algn="ctr">
              <a:lnSpc>
                <a:spcPct val="105000"/>
              </a:lnSpc>
            </a:pPr>
            <a:r>
              <a:rPr sz="1400" b="1" i="0">
                <a:solidFill>
                  <a:srgbClr val="E8ECF5"/>
                </a:solidFill>
                <a:latin typeface="Calibri"/>
              </a:rPr>
              <a:t>02  EDA</a:t>
            </a:r>
          </a:p>
        </p:txBody>
      </p:sp>
      <p:sp>
        <p:nvSpPr>
          <p:cNvPr id="17" name="TextBox 16"/>
          <p:cNvSpPr txBox="1"/>
          <p:nvPr/>
        </p:nvSpPr>
        <p:spPr>
          <a:xfrm>
            <a:off x="2834640" y="3584448"/>
            <a:ext cx="1920239" cy="685800"/>
          </a:xfrm>
          <a:prstGeom prst="rect">
            <a:avLst/>
          </a:prstGeom>
          <a:noFill/>
        </p:spPr>
        <p:txBody>
          <a:bodyPr wrap="square" lIns="36576" rIns="36576" tIns="18288" bIns="18288" anchor="t">
            <a:spAutoFit/>
          </a:bodyPr>
          <a:lstStyle/>
          <a:p>
            <a:pPr algn="ctr">
              <a:lnSpc>
                <a:spcPct val="105000"/>
              </a:lnSpc>
            </a:pPr>
            <a:r>
              <a:rPr sz="1200" b="0" i="0">
                <a:solidFill>
                  <a:srgbClr val="9AA5BF"/>
                </a:solidFill>
                <a:latin typeface="Calibri"/>
              </a:rPr>
              <a:t>segments; account_data.csv</a:t>
            </a:r>
          </a:p>
        </p:txBody>
      </p:sp>
      <p:sp>
        <p:nvSpPr>
          <p:cNvPr id="18" name="Rounded Rectangle 17"/>
          <p:cNvSpPr/>
          <p:nvPr/>
        </p:nvSpPr>
        <p:spPr>
          <a:xfrm>
            <a:off x="2743200" y="4663440"/>
            <a:ext cx="2103120" cy="1234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852928" y="4663440"/>
            <a:ext cx="1883663"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834640" y="4791455"/>
            <a:ext cx="1920239" cy="320040"/>
          </a:xfrm>
          <a:prstGeom prst="rect">
            <a:avLst/>
          </a:prstGeom>
          <a:noFill/>
        </p:spPr>
        <p:txBody>
          <a:bodyPr wrap="square" lIns="36576" rIns="36576" tIns="18288" bIns="18288" anchor="t">
            <a:spAutoFit/>
          </a:bodyPr>
          <a:lstStyle/>
          <a:p>
            <a:pPr algn="ctr">
              <a:lnSpc>
                <a:spcPct val="105000"/>
              </a:lnSpc>
            </a:pPr>
            <a:r>
              <a:rPr sz="1400" b="1" i="0">
                <a:solidFill>
                  <a:srgbClr val="E8ECF5"/>
                </a:solidFill>
                <a:latin typeface="Calibri"/>
              </a:rPr>
              <a:t>04  Classification</a:t>
            </a:r>
          </a:p>
        </p:txBody>
      </p:sp>
      <p:sp>
        <p:nvSpPr>
          <p:cNvPr id="21" name="TextBox 20"/>
          <p:cNvSpPr txBox="1"/>
          <p:nvPr/>
        </p:nvSpPr>
        <p:spPr>
          <a:xfrm>
            <a:off x="2834640" y="5138927"/>
            <a:ext cx="1920239" cy="685800"/>
          </a:xfrm>
          <a:prstGeom prst="rect">
            <a:avLst/>
          </a:prstGeom>
          <a:noFill/>
        </p:spPr>
        <p:txBody>
          <a:bodyPr wrap="square" lIns="36576" rIns="36576" tIns="18288" bIns="18288" anchor="t">
            <a:spAutoFit/>
          </a:bodyPr>
          <a:lstStyle/>
          <a:p>
            <a:pPr algn="ctr">
              <a:lnSpc>
                <a:spcPct val="105000"/>
              </a:lnSpc>
            </a:pPr>
            <a:r>
              <a:rPr sz="1200" b="0" i="0">
                <a:solidFill>
                  <a:srgbClr val="9AA5BF"/>
                </a:solidFill>
                <a:latin typeface="Calibri"/>
              </a:rPr>
              <a:t>split, select, threshold, test</a:t>
            </a:r>
          </a:p>
        </p:txBody>
      </p:sp>
      <p:sp>
        <p:nvSpPr>
          <p:cNvPr id="22" name="Rounded Rectangle 21"/>
          <p:cNvSpPr/>
          <p:nvPr/>
        </p:nvSpPr>
        <p:spPr>
          <a:xfrm>
            <a:off x="5577840" y="2331720"/>
            <a:ext cx="2194560" cy="1234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87568" y="2331720"/>
            <a:ext cx="1975104"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669279" y="2459736"/>
            <a:ext cx="2011679" cy="320040"/>
          </a:xfrm>
          <a:prstGeom prst="rect">
            <a:avLst/>
          </a:prstGeom>
          <a:noFill/>
        </p:spPr>
        <p:txBody>
          <a:bodyPr wrap="square" lIns="36576" rIns="36576" tIns="18288" bIns="18288" anchor="t">
            <a:spAutoFit/>
          </a:bodyPr>
          <a:lstStyle/>
          <a:p>
            <a:pPr algn="ctr">
              <a:lnSpc>
                <a:spcPct val="105000"/>
              </a:lnSpc>
            </a:pPr>
            <a:r>
              <a:rPr sz="1400" b="1" i="0">
                <a:solidFill>
                  <a:srgbClr val="E8ECF5"/>
                </a:solidFill>
                <a:latin typeface="Calibri"/>
              </a:rPr>
              <a:t>account_data.csv</a:t>
            </a:r>
          </a:p>
        </p:txBody>
      </p:sp>
      <p:sp>
        <p:nvSpPr>
          <p:cNvPr id="25" name="TextBox 24"/>
          <p:cNvSpPr txBox="1"/>
          <p:nvPr/>
        </p:nvSpPr>
        <p:spPr>
          <a:xfrm>
            <a:off x="5669279" y="2807208"/>
            <a:ext cx="2011679" cy="685800"/>
          </a:xfrm>
          <a:prstGeom prst="rect">
            <a:avLst/>
          </a:prstGeom>
          <a:noFill/>
        </p:spPr>
        <p:txBody>
          <a:bodyPr wrap="square" lIns="36576" rIns="36576" tIns="18288" bIns="18288" anchor="t">
            <a:spAutoFit/>
          </a:bodyPr>
          <a:lstStyle/>
          <a:p>
            <a:pPr algn="ctr">
              <a:lnSpc>
                <a:spcPct val="105000"/>
              </a:lnSpc>
            </a:pPr>
            <a:r>
              <a:rPr sz="1200" b="0" i="0">
                <a:solidFill>
                  <a:srgbClr val="9AA5BF"/>
                </a:solidFill>
                <a:latin typeface="Calibri"/>
              </a:rPr>
              <a:t>500 × 33, one row per account</a:t>
            </a:r>
          </a:p>
        </p:txBody>
      </p:sp>
      <p:sp>
        <p:nvSpPr>
          <p:cNvPr id="26" name="Rounded Rectangle 25"/>
          <p:cNvSpPr/>
          <p:nvPr/>
        </p:nvSpPr>
        <p:spPr>
          <a:xfrm>
            <a:off x="5577840" y="4663440"/>
            <a:ext cx="2194560" cy="1234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5687568" y="4663440"/>
            <a:ext cx="1975104"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669279" y="4791455"/>
            <a:ext cx="2011679" cy="320040"/>
          </a:xfrm>
          <a:prstGeom prst="rect">
            <a:avLst/>
          </a:prstGeom>
          <a:noFill/>
        </p:spPr>
        <p:txBody>
          <a:bodyPr wrap="square" lIns="36576" rIns="36576" tIns="18288" bIns="18288" anchor="t">
            <a:spAutoFit/>
          </a:bodyPr>
          <a:lstStyle/>
          <a:p>
            <a:pPr algn="ctr">
              <a:lnSpc>
                <a:spcPct val="105000"/>
              </a:lnSpc>
            </a:pPr>
            <a:r>
              <a:rPr sz="1400" b="1" i="0">
                <a:solidFill>
                  <a:srgbClr val="E8ECF5"/>
                </a:solidFill>
                <a:latin typeface="Calibri"/>
              </a:rPr>
              <a:t>models/ + outputs/</a:t>
            </a:r>
          </a:p>
        </p:txBody>
      </p:sp>
      <p:sp>
        <p:nvSpPr>
          <p:cNvPr id="29" name="TextBox 28"/>
          <p:cNvSpPr txBox="1"/>
          <p:nvPr/>
        </p:nvSpPr>
        <p:spPr>
          <a:xfrm>
            <a:off x="5669279" y="5138927"/>
            <a:ext cx="2011679" cy="685800"/>
          </a:xfrm>
          <a:prstGeom prst="rect">
            <a:avLst/>
          </a:prstGeom>
          <a:noFill/>
        </p:spPr>
        <p:txBody>
          <a:bodyPr wrap="square" lIns="36576" rIns="36576" tIns="18288" bIns="18288" anchor="t">
            <a:spAutoFit/>
          </a:bodyPr>
          <a:lstStyle/>
          <a:p>
            <a:pPr algn="ctr">
              <a:lnSpc>
                <a:spcPct val="105000"/>
              </a:lnSpc>
            </a:pPr>
            <a:r>
              <a:rPr sz="1200" b="0" i="0">
                <a:solidFill>
                  <a:srgbClr val="9AA5BF"/>
                </a:solidFill>
                <a:latin typeface="Calibri"/>
              </a:rPr>
              <a:t>model.pkl, threshold.pkl, importance, confusion matrix</a:t>
            </a:r>
          </a:p>
        </p:txBody>
      </p:sp>
      <p:sp>
        <p:nvSpPr>
          <p:cNvPr id="30" name="Rounded Rectangle 29"/>
          <p:cNvSpPr/>
          <p:nvPr/>
        </p:nvSpPr>
        <p:spPr>
          <a:xfrm>
            <a:off x="8732520" y="3017520"/>
            <a:ext cx="2926080" cy="19202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842248" y="3017520"/>
            <a:ext cx="2706624" cy="4572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823960" y="3145536"/>
            <a:ext cx="2743200" cy="320040"/>
          </a:xfrm>
          <a:prstGeom prst="rect">
            <a:avLst/>
          </a:prstGeom>
          <a:noFill/>
        </p:spPr>
        <p:txBody>
          <a:bodyPr wrap="square" lIns="36576" rIns="36576" tIns="18288" bIns="18288" anchor="t">
            <a:spAutoFit/>
          </a:bodyPr>
          <a:lstStyle/>
          <a:p>
            <a:pPr algn="ctr">
              <a:lnSpc>
                <a:spcPct val="105000"/>
              </a:lnSpc>
            </a:pPr>
            <a:r>
              <a:rPr sz="1400" b="1" i="0">
                <a:solidFill>
                  <a:srgbClr val="E8ECF5"/>
                </a:solidFill>
                <a:latin typeface="Calibri"/>
              </a:rPr>
              <a:t>Streamlit app</a:t>
            </a:r>
          </a:p>
        </p:txBody>
      </p:sp>
      <p:sp>
        <p:nvSpPr>
          <p:cNvPr id="33" name="TextBox 32"/>
          <p:cNvSpPr txBox="1"/>
          <p:nvPr/>
        </p:nvSpPr>
        <p:spPr>
          <a:xfrm>
            <a:off x="8823960" y="3493008"/>
            <a:ext cx="2743200" cy="1371600"/>
          </a:xfrm>
          <a:prstGeom prst="rect">
            <a:avLst/>
          </a:prstGeom>
          <a:noFill/>
        </p:spPr>
        <p:txBody>
          <a:bodyPr wrap="square" lIns="36576" rIns="36576" tIns="18288" bIns="18288" anchor="t">
            <a:spAutoFit/>
          </a:bodyPr>
          <a:lstStyle/>
          <a:p>
            <a:pPr algn="ctr">
              <a:lnSpc>
                <a:spcPct val="105000"/>
              </a:lnSpc>
            </a:pPr>
            <a:r>
              <a:rPr sz="1200" b="0" i="0">
                <a:solidFill>
                  <a:srgbClr val="9AA5BF"/>
                </a:solidFill>
                <a:latin typeface="Calibri"/>
              </a:rPr>
              <a:t>6 tabs · Plotly charts · sidebar filters · risk lookup · CSV export</a:t>
            </a:r>
          </a:p>
        </p:txBody>
      </p:sp>
      <p:cxnSp>
        <p:nvCxnSpPr>
          <p:cNvPr id="34" name="Connector 33"/>
          <p:cNvCxnSpPr/>
          <p:nvPr/>
        </p:nvCxnSpPr>
        <p:spPr>
          <a:xfrm flipV="1">
            <a:off x="2194560" y="2194560"/>
            <a:ext cx="548640" cy="91440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2194560" y="3337560"/>
            <a:ext cx="548640" cy="36576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3794760" y="2788920"/>
            <a:ext cx="0" cy="32004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3794760" y="4343400"/>
            <a:ext cx="0" cy="32004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V="1">
            <a:off x="4846320" y="3108960"/>
            <a:ext cx="731520" cy="59436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a:off x="4846320" y="5257800"/>
            <a:ext cx="731520" cy="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a:off x="7772400" y="2926080"/>
            <a:ext cx="960120" cy="64008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V="1">
            <a:off x="7772400" y="4480560"/>
            <a:ext cx="960120" cy="77724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48640" y="5989320"/>
            <a:ext cx="10972800" cy="365760"/>
          </a:xfrm>
          <a:prstGeom prst="rect">
            <a:avLst/>
          </a:prstGeom>
          <a:noFill/>
        </p:spPr>
        <p:txBody>
          <a:bodyPr wrap="square" lIns="36576" rIns="36576" tIns="18288" bIns="18288" anchor="t">
            <a:spAutoFit/>
          </a:bodyPr>
          <a:lstStyle/>
          <a:p>
            <a:pPr algn="l">
              <a:lnSpc>
                <a:spcPct val="105000"/>
              </a:lnSpc>
            </a:pPr>
            <a:r>
              <a:rPr sz="1100" b="0" i="1">
                <a:solidFill>
                  <a:srgbClr val="9AA5BF"/>
                </a:solidFill>
                <a:latin typeface="Calibri"/>
              </a:rPr>
              <a:t>Notebook 03 is an earlier iteration (80/20 split) superseded by notebook 04 - not used for any result in this deck.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DATA PREPARATION</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Features use only what was known before the prediction date</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5</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sp>
        <p:nvSpPr>
          <p:cNvPr id="6" name="Rounded Rectangle 5"/>
          <p:cNvSpPr/>
          <p:nvPr/>
        </p:nvSpPr>
        <p:spPr>
          <a:xfrm>
            <a:off x="548640" y="1463040"/>
            <a:ext cx="11064240" cy="182880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63040"/>
            <a:ext cx="10844784"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27632"/>
            <a:ext cx="5486400" cy="320040"/>
          </a:xfrm>
          <a:prstGeom prst="rect">
            <a:avLst/>
          </a:prstGeom>
          <a:noFill/>
        </p:spPr>
        <p:txBody>
          <a:bodyPr wrap="square" lIns="36576" rIns="36576" tIns="18288" bIns="18288" anchor="t">
            <a:spAutoFit/>
          </a:bodyPr>
          <a:lstStyle/>
          <a:p>
            <a:pPr algn="l">
              <a:lnSpc>
                <a:spcPct val="105000"/>
              </a:lnSpc>
            </a:pPr>
            <a:r>
              <a:rPr sz="1500" b="1" i="0">
                <a:solidFill>
                  <a:srgbClr val="8B84FF"/>
                </a:solidFill>
                <a:latin typeface="Calibri"/>
              </a:rPr>
              <a:t>Prediction date per account</a:t>
            </a:r>
          </a:p>
        </p:txBody>
      </p:sp>
      <p:sp>
        <p:nvSpPr>
          <p:cNvPr id="9" name="TextBox 8"/>
          <p:cNvSpPr txBox="1"/>
          <p:nvPr/>
        </p:nvSpPr>
        <p:spPr>
          <a:xfrm>
            <a:off x="777240" y="2011680"/>
            <a:ext cx="5120640" cy="320040"/>
          </a:xfrm>
          <a:prstGeom prst="rect">
            <a:avLst/>
          </a:prstGeom>
          <a:noFill/>
        </p:spPr>
        <p:txBody>
          <a:bodyPr wrap="square" lIns="36576" rIns="36576" tIns="18288" bIns="18288" anchor="t">
            <a:spAutoFit/>
          </a:bodyPr>
          <a:lstStyle/>
          <a:p>
            <a:pPr algn="l">
              <a:lnSpc>
                <a:spcPct val="105000"/>
              </a:lnSpc>
            </a:pPr>
            <a:r>
              <a:rPr sz="1400" b="1" i="0">
                <a:solidFill>
                  <a:srgbClr val="E8ECF5"/>
                </a:solidFill>
                <a:latin typeface="Calibri"/>
              </a:rPr>
              <a:t>Retained</a:t>
            </a:r>
            <a:r>
              <a:rPr sz="1400" b="0" i="0">
                <a:solidFill>
                  <a:srgbClr val="E8ECF5"/>
                </a:solidFill>
                <a:latin typeface="Calibri"/>
              </a:rPr>
              <a:t>  →  2024-12-31 (end of the data)</a:t>
            </a:r>
          </a:p>
        </p:txBody>
      </p:sp>
      <p:sp>
        <p:nvSpPr>
          <p:cNvPr id="10" name="TextBox 9"/>
          <p:cNvSpPr txBox="1"/>
          <p:nvPr/>
        </p:nvSpPr>
        <p:spPr>
          <a:xfrm>
            <a:off x="777240" y="2423160"/>
            <a:ext cx="5120640" cy="320040"/>
          </a:xfrm>
          <a:prstGeom prst="rect">
            <a:avLst/>
          </a:prstGeom>
          <a:noFill/>
        </p:spPr>
        <p:txBody>
          <a:bodyPr wrap="square" lIns="36576" rIns="36576" tIns="18288" bIns="18288" anchor="t">
            <a:spAutoFit/>
          </a:bodyPr>
          <a:lstStyle/>
          <a:p>
            <a:pPr algn="l">
              <a:lnSpc>
                <a:spcPct val="105000"/>
              </a:lnSpc>
            </a:pPr>
            <a:r>
              <a:rPr sz="1400" b="1" i="0">
                <a:solidFill>
                  <a:srgbClr val="E8ECF5"/>
                </a:solidFill>
                <a:latin typeface="Calibri"/>
              </a:rPr>
              <a:t>Churned</a:t>
            </a:r>
            <a:r>
              <a:rPr sz="1400" b="0" i="0">
                <a:solidFill>
                  <a:srgbClr val="E8ECF5"/>
                </a:solidFill>
                <a:latin typeface="Calibri"/>
              </a:rPr>
              <a:t>  →  first churn event − 30 days</a:t>
            </a:r>
          </a:p>
        </p:txBody>
      </p:sp>
      <p:sp>
        <p:nvSpPr>
          <p:cNvPr id="11" name="TextBox 10"/>
          <p:cNvSpPr txBox="1"/>
          <p:nvPr/>
        </p:nvSpPr>
        <p:spPr>
          <a:xfrm>
            <a:off x="6126480" y="2011680"/>
            <a:ext cx="5303520" cy="1097280"/>
          </a:xfrm>
          <a:prstGeom prst="rect">
            <a:avLst/>
          </a:prstGeom>
          <a:noFill/>
        </p:spPr>
        <p:txBody>
          <a:bodyPr wrap="square" lIns="36576" rIns="36576" tIns="18288" bIns="18288" anchor="t">
            <a:spAutoFit/>
          </a:bodyPr>
          <a:lstStyle/>
          <a:p>
            <a:pPr algn="l">
              <a:lnSpc>
                <a:spcPct val="105000"/>
              </a:lnSpc>
            </a:pPr>
            <a:r>
              <a:rPr sz="1300" b="0" i="0">
                <a:solidFill>
                  <a:srgbClr val="9AA5BF"/>
                </a:solidFill>
                <a:latin typeface="Calibri"/>
              </a:rPr>
              <a:t>Subscription, usage and ticket records are filtered to dates ≤ the prediction date before aggregation. Tenure is measured at that date.</a:t>
            </a:r>
          </a:p>
        </p:txBody>
      </p:sp>
      <p:sp>
        <p:nvSpPr>
          <p:cNvPr id="12" name="Rounded Rectangle 11"/>
          <p:cNvSpPr/>
          <p:nvPr/>
        </p:nvSpPr>
        <p:spPr>
          <a:xfrm>
            <a:off x="548640" y="3520440"/>
            <a:ext cx="2651760" cy="160020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3520440"/>
            <a:ext cx="2432304"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8368" y="3675887"/>
            <a:ext cx="2468880" cy="320040"/>
          </a:xfrm>
          <a:prstGeom prst="rect">
            <a:avLst/>
          </a:prstGeom>
          <a:noFill/>
        </p:spPr>
        <p:txBody>
          <a:bodyPr wrap="square" lIns="36576" rIns="36576" tIns="18288" bIns="18288" anchor="t">
            <a:spAutoFit/>
          </a:bodyPr>
          <a:lstStyle/>
          <a:p>
            <a:pPr algn="l">
              <a:lnSpc>
                <a:spcPct val="105000"/>
              </a:lnSpc>
            </a:pPr>
            <a:r>
              <a:rPr sz="1400" b="1" i="0">
                <a:solidFill>
                  <a:srgbClr val="E8ECF5"/>
                </a:solidFill>
                <a:latin typeface="Calibri"/>
              </a:rPr>
              <a:t>Account profile</a:t>
            </a:r>
          </a:p>
        </p:txBody>
      </p:sp>
      <p:sp>
        <p:nvSpPr>
          <p:cNvPr id="15" name="TextBox 14"/>
          <p:cNvSpPr txBox="1"/>
          <p:nvPr/>
        </p:nvSpPr>
        <p:spPr>
          <a:xfrm>
            <a:off x="658368" y="4069080"/>
            <a:ext cx="2468880" cy="1005840"/>
          </a:xfrm>
          <a:prstGeom prst="rect">
            <a:avLst/>
          </a:prstGeom>
          <a:noFill/>
        </p:spPr>
        <p:txBody>
          <a:bodyPr wrap="square" lIns="36576" rIns="36576" tIns="18288" bIns="18288" anchor="t">
            <a:spAutoFit/>
          </a:bodyPr>
          <a:lstStyle/>
          <a:p>
            <a:pPr algn="l">
              <a:lnSpc>
                <a:spcPct val="105000"/>
              </a:lnSpc>
            </a:pPr>
            <a:r>
              <a:rPr sz="1350" b="0" i="0">
                <a:solidFill>
                  <a:srgbClr val="9AA5BF"/>
                </a:solidFill>
                <a:latin typeface="Calibri"/>
              </a:rPr>
              <a:t>plan tier, industry, country, seats, trial, tenure</a:t>
            </a:r>
          </a:p>
        </p:txBody>
      </p:sp>
      <p:sp>
        <p:nvSpPr>
          <p:cNvPr id="16" name="Rounded Rectangle 15"/>
          <p:cNvSpPr/>
          <p:nvPr/>
        </p:nvSpPr>
        <p:spPr>
          <a:xfrm>
            <a:off x="3337560" y="3520440"/>
            <a:ext cx="2651760" cy="160020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447288" y="3520440"/>
            <a:ext cx="2432304"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47288" y="3675887"/>
            <a:ext cx="2468880" cy="320040"/>
          </a:xfrm>
          <a:prstGeom prst="rect">
            <a:avLst/>
          </a:prstGeom>
          <a:noFill/>
        </p:spPr>
        <p:txBody>
          <a:bodyPr wrap="square" lIns="36576" rIns="36576" tIns="18288" bIns="18288" anchor="t">
            <a:spAutoFit/>
          </a:bodyPr>
          <a:lstStyle/>
          <a:p>
            <a:pPr algn="l">
              <a:lnSpc>
                <a:spcPct val="105000"/>
              </a:lnSpc>
            </a:pPr>
            <a:r>
              <a:rPr sz="1400" b="1" i="0">
                <a:solidFill>
                  <a:srgbClr val="E8ECF5"/>
                </a:solidFill>
                <a:latin typeface="Calibri"/>
              </a:rPr>
              <a:t>Subscription</a:t>
            </a:r>
          </a:p>
        </p:txBody>
      </p:sp>
      <p:sp>
        <p:nvSpPr>
          <p:cNvPr id="19" name="TextBox 18"/>
          <p:cNvSpPr txBox="1"/>
          <p:nvPr/>
        </p:nvSpPr>
        <p:spPr>
          <a:xfrm>
            <a:off x="3447288" y="4069080"/>
            <a:ext cx="2468880" cy="1005840"/>
          </a:xfrm>
          <a:prstGeom prst="rect">
            <a:avLst/>
          </a:prstGeom>
          <a:noFill/>
        </p:spPr>
        <p:txBody>
          <a:bodyPr wrap="square" lIns="36576" rIns="36576" tIns="18288" bIns="18288" anchor="t">
            <a:spAutoFit/>
          </a:bodyPr>
          <a:lstStyle/>
          <a:p>
            <a:pPr algn="l">
              <a:lnSpc>
                <a:spcPct val="105000"/>
              </a:lnSpc>
            </a:pPr>
            <a:r>
              <a:rPr sz="1350" b="0" i="0">
                <a:solidFill>
                  <a:srgbClr val="9AA5BF"/>
                </a:solidFill>
                <a:latin typeface="Calibri"/>
              </a:rPr>
              <a:t>avg MRR, upgrades, downgrades, auto-renew</a:t>
            </a:r>
          </a:p>
        </p:txBody>
      </p:sp>
      <p:sp>
        <p:nvSpPr>
          <p:cNvPr id="20" name="Rounded Rectangle 19"/>
          <p:cNvSpPr/>
          <p:nvPr/>
        </p:nvSpPr>
        <p:spPr>
          <a:xfrm>
            <a:off x="6126479" y="3520440"/>
            <a:ext cx="2651760" cy="160020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236207" y="3520440"/>
            <a:ext cx="2432304" cy="45720"/>
          </a:xfrm>
          <a:prstGeom prst="rect">
            <a:avLst/>
          </a:prstGeom>
          <a:solidFill>
            <a:srgbClr val="FFB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36207" y="3675887"/>
            <a:ext cx="2468880" cy="320040"/>
          </a:xfrm>
          <a:prstGeom prst="rect">
            <a:avLst/>
          </a:prstGeom>
          <a:noFill/>
        </p:spPr>
        <p:txBody>
          <a:bodyPr wrap="square" lIns="36576" rIns="36576" tIns="18288" bIns="18288" anchor="t">
            <a:spAutoFit/>
          </a:bodyPr>
          <a:lstStyle/>
          <a:p>
            <a:pPr algn="l">
              <a:lnSpc>
                <a:spcPct val="105000"/>
              </a:lnSpc>
            </a:pPr>
            <a:r>
              <a:rPr sz="1400" b="1" i="0">
                <a:solidFill>
                  <a:srgbClr val="E8ECF5"/>
                </a:solidFill>
                <a:latin typeface="Calibri"/>
              </a:rPr>
              <a:t>Product usage</a:t>
            </a:r>
          </a:p>
        </p:txBody>
      </p:sp>
      <p:sp>
        <p:nvSpPr>
          <p:cNvPr id="23" name="TextBox 22"/>
          <p:cNvSpPr txBox="1"/>
          <p:nvPr/>
        </p:nvSpPr>
        <p:spPr>
          <a:xfrm>
            <a:off x="6236207" y="4069080"/>
            <a:ext cx="2468880" cy="1005840"/>
          </a:xfrm>
          <a:prstGeom prst="rect">
            <a:avLst/>
          </a:prstGeom>
          <a:noFill/>
        </p:spPr>
        <p:txBody>
          <a:bodyPr wrap="square" lIns="36576" rIns="36576" tIns="18288" bIns="18288" anchor="t">
            <a:spAutoFit/>
          </a:bodyPr>
          <a:lstStyle/>
          <a:p>
            <a:pPr algn="l">
              <a:lnSpc>
                <a:spcPct val="105000"/>
              </a:lnSpc>
            </a:pPr>
            <a:r>
              <a:rPr sz="1350" b="0" i="0">
                <a:solidFill>
                  <a:srgbClr val="9AA5BF"/>
                </a:solidFill>
                <a:latin typeface="Calibri"/>
              </a:rPr>
              <a:t>usage, duration, errors, beta usage</a:t>
            </a:r>
          </a:p>
        </p:txBody>
      </p:sp>
      <p:sp>
        <p:nvSpPr>
          <p:cNvPr id="24" name="Rounded Rectangle 23"/>
          <p:cNvSpPr/>
          <p:nvPr/>
        </p:nvSpPr>
        <p:spPr>
          <a:xfrm>
            <a:off x="8915399" y="3520440"/>
            <a:ext cx="2651760" cy="160020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25127" y="3520440"/>
            <a:ext cx="2432304" cy="4572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25127" y="3675887"/>
            <a:ext cx="2468880" cy="320040"/>
          </a:xfrm>
          <a:prstGeom prst="rect">
            <a:avLst/>
          </a:prstGeom>
          <a:noFill/>
        </p:spPr>
        <p:txBody>
          <a:bodyPr wrap="square" lIns="36576" rIns="36576" tIns="18288" bIns="18288" anchor="t">
            <a:spAutoFit/>
          </a:bodyPr>
          <a:lstStyle/>
          <a:p>
            <a:pPr algn="l">
              <a:lnSpc>
                <a:spcPct val="105000"/>
              </a:lnSpc>
            </a:pPr>
            <a:r>
              <a:rPr sz="1400" b="1" i="0">
                <a:solidFill>
                  <a:srgbClr val="E8ECF5"/>
                </a:solidFill>
                <a:latin typeface="Calibri"/>
              </a:rPr>
              <a:t>Support</a:t>
            </a:r>
          </a:p>
        </p:txBody>
      </p:sp>
      <p:sp>
        <p:nvSpPr>
          <p:cNvPr id="27" name="TextBox 26"/>
          <p:cNvSpPr txBox="1"/>
          <p:nvPr/>
        </p:nvSpPr>
        <p:spPr>
          <a:xfrm>
            <a:off x="9025127" y="4069080"/>
            <a:ext cx="2468880" cy="1005840"/>
          </a:xfrm>
          <a:prstGeom prst="rect">
            <a:avLst/>
          </a:prstGeom>
          <a:noFill/>
        </p:spPr>
        <p:txBody>
          <a:bodyPr wrap="square" lIns="36576" rIns="36576" tIns="18288" bIns="18288" anchor="t">
            <a:spAutoFit/>
          </a:bodyPr>
          <a:lstStyle/>
          <a:p>
            <a:pPr algn="l">
              <a:lnSpc>
                <a:spcPct val="105000"/>
              </a:lnSpc>
            </a:pPr>
            <a:r>
              <a:rPr sz="1350" b="0" i="0">
                <a:solidFill>
                  <a:srgbClr val="9AA5BF"/>
                </a:solidFill>
                <a:latin typeface="Calibri"/>
              </a:rPr>
              <a:t>tickets, resolution, response, satisfaction, escalations</a:t>
            </a:r>
          </a:p>
        </p:txBody>
      </p:sp>
      <p:sp>
        <p:nvSpPr>
          <p:cNvPr id="28" name="TextBox 27"/>
          <p:cNvSpPr txBox="1"/>
          <p:nvPr/>
        </p:nvSpPr>
        <p:spPr>
          <a:xfrm>
            <a:off x="548640" y="5349240"/>
            <a:ext cx="11064240" cy="822960"/>
          </a:xfrm>
          <a:prstGeom prst="rect">
            <a:avLst/>
          </a:prstGeom>
          <a:noFill/>
        </p:spPr>
        <p:txBody>
          <a:bodyPr wrap="square" lIns="36576" rIns="36576" tIns="18288" bIns="18288" anchor="t">
            <a:spAutoFit/>
          </a:bodyPr>
          <a:lstStyle/>
          <a:p>
            <a:pPr algn="l">
              <a:lnSpc>
                <a:spcPct val="105000"/>
              </a:lnSpc>
            </a:pPr>
            <a:r>
              <a:rPr sz="1300" b="1" i="0">
                <a:solidFill>
                  <a:srgbClr val="E8ECF5"/>
                </a:solidFill>
                <a:latin typeface="Calibri"/>
              </a:rPr>
              <a:t>19 features</a:t>
            </a:r>
            <a:r>
              <a:rPr sz="1300" b="0" i="0">
                <a:solidFill>
                  <a:srgbClr val="E8ECF5"/>
                </a:solidFill>
                <a:latin typeface="Calibri"/>
              </a:rPr>
              <a:t> (31 after encoding). Excluded as leakage risks: churn_date, reason_code, refund_amount_usd, feedback_text.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EXPLORATION</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Churn is flat by plan; some segments stand out</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6</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pic>
        <p:nvPicPr>
          <p:cNvPr id="6" name="Picture 5" descr="01_overview.png"/>
          <p:cNvPicPr>
            <a:picLocks noChangeAspect="1"/>
          </p:cNvPicPr>
          <p:nvPr/>
        </p:nvPicPr>
        <p:blipFill>
          <a:blip r:embed="rId2"/>
          <a:stretch>
            <a:fillRect/>
          </a:stretch>
        </p:blipFill>
        <p:spPr>
          <a:xfrm>
            <a:off x="548640" y="1417320"/>
            <a:ext cx="6126479" cy="3750786"/>
          </a:xfrm>
          <a:prstGeom prst="rect">
            <a:avLst/>
          </a:prstGeom>
          <a:ln w="12700">
            <a:solidFill>
              <a:srgbClr val="2A3350"/>
            </a:solidFill>
          </a:ln>
        </p:spPr>
      </p:pic>
      <p:sp>
        <p:nvSpPr>
          <p:cNvPr id="7" name="Rounded Rectangle 6"/>
          <p:cNvSpPr/>
          <p:nvPr/>
        </p:nvSpPr>
        <p:spPr>
          <a:xfrm>
            <a:off x="6949440" y="1417320"/>
            <a:ext cx="2286000" cy="14630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059168" y="1417320"/>
            <a:ext cx="2066543"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40879" y="1600200"/>
            <a:ext cx="2103120" cy="502920"/>
          </a:xfrm>
          <a:prstGeom prst="rect">
            <a:avLst/>
          </a:prstGeom>
          <a:noFill/>
        </p:spPr>
        <p:txBody>
          <a:bodyPr wrap="square" lIns="36576" rIns="36576" tIns="18288" bIns="18288" anchor="t">
            <a:spAutoFit/>
          </a:bodyPr>
          <a:lstStyle/>
          <a:p>
            <a:pPr algn="l">
              <a:lnSpc>
                <a:spcPct val="105000"/>
              </a:lnSpc>
            </a:pPr>
            <a:r>
              <a:rPr sz="2200" b="1" i="0">
                <a:solidFill>
                  <a:srgbClr val="8B84FF"/>
                </a:solidFill>
                <a:latin typeface="Calibri"/>
              </a:rPr>
              <a:t>~22%</a:t>
            </a:r>
          </a:p>
        </p:txBody>
      </p:sp>
      <p:sp>
        <p:nvSpPr>
          <p:cNvPr id="10" name="TextBox 9"/>
          <p:cNvSpPr txBox="1"/>
          <p:nvPr/>
        </p:nvSpPr>
        <p:spPr>
          <a:xfrm>
            <a:off x="7040879" y="2194560"/>
            <a:ext cx="2103120" cy="640080"/>
          </a:xfrm>
          <a:prstGeom prst="rect">
            <a:avLst/>
          </a:prstGeom>
          <a:noFill/>
        </p:spPr>
        <p:txBody>
          <a:bodyPr wrap="square" lIns="36576" rIns="36576" tIns="18288" bIns="18288" anchor="t">
            <a:spAutoFit/>
          </a:bodyPr>
          <a:lstStyle/>
          <a:p>
            <a:pPr algn="l">
              <a:lnSpc>
                <a:spcPct val="105000"/>
              </a:lnSpc>
            </a:pPr>
            <a:r>
              <a:rPr sz="1150" b="0" i="0">
                <a:solidFill>
                  <a:srgbClr val="9AA5BF"/>
                </a:solidFill>
                <a:latin typeface="Calibri"/>
              </a:rPr>
              <a:t>across all plan tiers (21.9–22.1%)</a:t>
            </a:r>
          </a:p>
        </p:txBody>
      </p:sp>
      <p:sp>
        <p:nvSpPr>
          <p:cNvPr id="11" name="Rounded Rectangle 10"/>
          <p:cNvSpPr/>
          <p:nvPr/>
        </p:nvSpPr>
        <p:spPr>
          <a:xfrm>
            <a:off x="9372600" y="1417320"/>
            <a:ext cx="2286000" cy="14630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9482328" y="1417320"/>
            <a:ext cx="2066543" cy="4572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464040" y="1600200"/>
            <a:ext cx="2103120" cy="502920"/>
          </a:xfrm>
          <a:prstGeom prst="rect">
            <a:avLst/>
          </a:prstGeom>
          <a:noFill/>
        </p:spPr>
        <p:txBody>
          <a:bodyPr wrap="square" lIns="36576" rIns="36576" tIns="18288" bIns="18288" anchor="t">
            <a:spAutoFit/>
          </a:bodyPr>
          <a:lstStyle/>
          <a:p>
            <a:pPr algn="l">
              <a:lnSpc>
                <a:spcPct val="105000"/>
              </a:lnSpc>
            </a:pPr>
            <a:r>
              <a:rPr sz="2200" b="1" i="0">
                <a:solidFill>
                  <a:srgbClr val="FF6B6B"/>
                </a:solidFill>
                <a:latin typeface="Calibri"/>
              </a:rPr>
              <a:t>31.0%</a:t>
            </a:r>
          </a:p>
        </p:txBody>
      </p:sp>
      <p:sp>
        <p:nvSpPr>
          <p:cNvPr id="14" name="TextBox 13"/>
          <p:cNvSpPr txBox="1"/>
          <p:nvPr/>
        </p:nvSpPr>
        <p:spPr>
          <a:xfrm>
            <a:off x="9464040" y="2194560"/>
            <a:ext cx="2103120" cy="640080"/>
          </a:xfrm>
          <a:prstGeom prst="rect">
            <a:avLst/>
          </a:prstGeom>
          <a:noFill/>
        </p:spPr>
        <p:txBody>
          <a:bodyPr wrap="square" lIns="36576" rIns="36576" tIns="18288" bIns="18288" anchor="t">
            <a:spAutoFit/>
          </a:bodyPr>
          <a:lstStyle/>
          <a:p>
            <a:pPr algn="l">
              <a:lnSpc>
                <a:spcPct val="105000"/>
              </a:lnSpc>
            </a:pPr>
            <a:r>
              <a:rPr sz="1150" b="0" i="0">
                <a:solidFill>
                  <a:srgbClr val="9AA5BF"/>
                </a:solidFill>
                <a:latin typeface="Calibri"/>
              </a:rPr>
              <a:t>DevTools churn (35 of 113)</a:t>
            </a:r>
          </a:p>
        </p:txBody>
      </p:sp>
      <p:sp>
        <p:nvSpPr>
          <p:cNvPr id="15" name="Rounded Rectangle 14"/>
          <p:cNvSpPr/>
          <p:nvPr/>
        </p:nvSpPr>
        <p:spPr>
          <a:xfrm>
            <a:off x="6949440" y="3017520"/>
            <a:ext cx="2286000" cy="14630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059168" y="3017520"/>
            <a:ext cx="2066543" cy="45720"/>
          </a:xfrm>
          <a:prstGeom prst="rect">
            <a:avLst/>
          </a:prstGeom>
          <a:solidFill>
            <a:srgbClr val="FFB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40879" y="3200400"/>
            <a:ext cx="2103120" cy="502920"/>
          </a:xfrm>
          <a:prstGeom prst="rect">
            <a:avLst/>
          </a:prstGeom>
          <a:noFill/>
        </p:spPr>
        <p:txBody>
          <a:bodyPr wrap="square" lIns="36576" rIns="36576" tIns="18288" bIns="18288" anchor="t">
            <a:spAutoFit/>
          </a:bodyPr>
          <a:lstStyle/>
          <a:p>
            <a:pPr algn="l">
              <a:lnSpc>
                <a:spcPct val="105000"/>
              </a:lnSpc>
            </a:pPr>
            <a:r>
              <a:rPr sz="2200" b="1" i="0">
                <a:solidFill>
                  <a:srgbClr val="FFB347"/>
                </a:solidFill>
                <a:latin typeface="Calibri"/>
              </a:rPr>
              <a:t>32%</a:t>
            </a:r>
          </a:p>
        </p:txBody>
      </p:sp>
      <p:sp>
        <p:nvSpPr>
          <p:cNvPr id="18" name="TextBox 17"/>
          <p:cNvSpPr txBox="1"/>
          <p:nvPr/>
        </p:nvSpPr>
        <p:spPr>
          <a:xfrm>
            <a:off x="7040879" y="3794759"/>
            <a:ext cx="2103120" cy="640080"/>
          </a:xfrm>
          <a:prstGeom prst="rect">
            <a:avLst/>
          </a:prstGeom>
          <a:noFill/>
        </p:spPr>
        <p:txBody>
          <a:bodyPr wrap="square" lIns="36576" rIns="36576" tIns="18288" bIns="18288" anchor="t">
            <a:spAutoFit/>
          </a:bodyPr>
          <a:lstStyle/>
          <a:p>
            <a:pPr algn="l">
              <a:lnSpc>
                <a:spcPct val="105000"/>
              </a:lnSpc>
            </a:pPr>
            <a:r>
              <a:rPr sz="1150" b="0" i="0">
                <a:solidFill>
                  <a:srgbClr val="9AA5BF"/>
                </a:solidFill>
                <a:latin typeface="Calibri"/>
              </a:rPr>
              <a:t>Germany (8 of 25); US has most churned: 68</a:t>
            </a:r>
          </a:p>
        </p:txBody>
      </p:sp>
      <p:sp>
        <p:nvSpPr>
          <p:cNvPr id="19" name="Rounded Rectangle 18"/>
          <p:cNvSpPr/>
          <p:nvPr/>
        </p:nvSpPr>
        <p:spPr>
          <a:xfrm>
            <a:off x="9372600" y="3017520"/>
            <a:ext cx="2286000" cy="14630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482328" y="3017520"/>
            <a:ext cx="2066543"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64040" y="3200400"/>
            <a:ext cx="2103120" cy="502920"/>
          </a:xfrm>
          <a:prstGeom prst="rect">
            <a:avLst/>
          </a:prstGeom>
          <a:noFill/>
        </p:spPr>
        <p:txBody>
          <a:bodyPr wrap="square" lIns="36576" rIns="36576" tIns="18288" bIns="18288" anchor="t">
            <a:spAutoFit/>
          </a:bodyPr>
          <a:lstStyle/>
          <a:p>
            <a:pPr algn="l">
              <a:lnSpc>
                <a:spcPct val="105000"/>
              </a:lnSpc>
            </a:pPr>
            <a:r>
              <a:rPr sz="1700" b="1" i="0">
                <a:solidFill>
                  <a:srgbClr val="00D4AA"/>
                </a:solidFill>
                <a:latin typeface="Calibri"/>
              </a:rPr>
              <a:t>25.8% vs 21.1%</a:t>
            </a:r>
          </a:p>
        </p:txBody>
      </p:sp>
      <p:sp>
        <p:nvSpPr>
          <p:cNvPr id="22" name="TextBox 21"/>
          <p:cNvSpPr txBox="1"/>
          <p:nvPr/>
        </p:nvSpPr>
        <p:spPr>
          <a:xfrm>
            <a:off x="9464040" y="3794759"/>
            <a:ext cx="2103120" cy="640080"/>
          </a:xfrm>
          <a:prstGeom prst="rect">
            <a:avLst/>
          </a:prstGeom>
          <a:noFill/>
        </p:spPr>
        <p:txBody>
          <a:bodyPr wrap="square" lIns="36576" rIns="36576" tIns="18288" bIns="18288" anchor="t">
            <a:spAutoFit/>
          </a:bodyPr>
          <a:lstStyle/>
          <a:p>
            <a:pPr algn="l">
              <a:lnSpc>
                <a:spcPct val="105000"/>
              </a:lnSpc>
            </a:pPr>
            <a:r>
              <a:rPr sz="1150" b="0" i="0">
                <a:solidFill>
                  <a:srgbClr val="9AA5BF"/>
                </a:solidFill>
                <a:latin typeface="Calibri"/>
              </a:rPr>
              <a:t>trial vs non-trial accounts</a:t>
            </a:r>
          </a:p>
        </p:txBody>
      </p:sp>
      <p:sp>
        <p:nvSpPr>
          <p:cNvPr id="23" name="TextBox 22"/>
          <p:cNvSpPr txBox="1"/>
          <p:nvPr/>
        </p:nvSpPr>
        <p:spPr>
          <a:xfrm>
            <a:off x="6949440" y="4663440"/>
            <a:ext cx="4754880" cy="1280160"/>
          </a:xfrm>
          <a:prstGeom prst="rect">
            <a:avLst/>
          </a:prstGeom>
          <a:noFill/>
        </p:spPr>
        <p:txBody>
          <a:bodyPr wrap="square" lIns="36576" rIns="36576" tIns="18288" bIns="18288" anchor="t">
            <a:spAutoFit/>
          </a:bodyPr>
          <a:lstStyle/>
          <a:p>
            <a:pPr algn="l">
              <a:lnSpc>
                <a:spcPct val="105000"/>
              </a:lnSpc>
            </a:pPr>
            <a:r>
              <a:rPr sz="1150" b="0" i="0">
                <a:solidFill>
                  <a:srgbClr val="9AA5BF"/>
                </a:solidFill>
                <a:latin typeface="Calibri"/>
              </a:rPr>
              <a:t>Event-referred accounts: 30.2% (29 of 96).</a:t>
            </a:r>
          </a:p>
          <a:p>
            <a:pPr algn="l">
              <a:lnSpc>
                <a:spcPct val="105000"/>
              </a:lnSpc>
            </a:pPr>
            <a:r>
              <a:rPr sz="1150" b="0" i="0">
                <a:solidFill>
                  <a:srgbClr val="9AA5BF"/>
                </a:solidFill>
                <a:latin typeface="Calibri"/>
              </a:rPr>
              <a:t>Tenure groups: 18.7% / 23.5% / 31.2% - but tenure is measured to the churn date for churned accounts, so this reflects how tenure is defined.</a:t>
            </a:r>
          </a:p>
        </p:txBody>
      </p:sp>
      <p:sp>
        <p:nvSpPr>
          <p:cNvPr id="24" name="TextBox 23"/>
          <p:cNvSpPr txBox="1"/>
          <p:nvPr/>
        </p:nvSpPr>
        <p:spPr>
          <a:xfrm>
            <a:off x="548640" y="5806440"/>
            <a:ext cx="6126480" cy="457200"/>
          </a:xfrm>
          <a:prstGeom prst="rect">
            <a:avLst/>
          </a:prstGeom>
          <a:noFill/>
        </p:spPr>
        <p:txBody>
          <a:bodyPr wrap="square" lIns="36576" rIns="36576" tIns="18288" bIns="18288" anchor="t">
            <a:spAutoFit/>
          </a:bodyPr>
          <a:lstStyle/>
          <a:p>
            <a:pPr algn="l">
              <a:lnSpc>
                <a:spcPct val="105000"/>
              </a:lnSpc>
            </a:pPr>
            <a:r>
              <a:rPr sz="1050" b="0" i="1">
                <a:solidFill>
                  <a:srgbClr val="9AA5BF"/>
                </a:solidFill>
                <a:latin typeface="Calibri"/>
              </a:rPr>
              <a:t>Screenshot: Churn Overview tab of the dashboard.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STREAMLIT DASHBOARD</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One page, six tabs, sidebar filters</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7</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pic>
        <p:nvPicPr>
          <p:cNvPr id="6" name="Picture 5" descr="00_top.png"/>
          <p:cNvPicPr>
            <a:picLocks noChangeAspect="1"/>
          </p:cNvPicPr>
          <p:nvPr/>
        </p:nvPicPr>
        <p:blipFill>
          <a:blip r:embed="rId2"/>
          <a:stretch>
            <a:fillRect/>
          </a:stretch>
        </p:blipFill>
        <p:spPr>
          <a:xfrm>
            <a:off x="548640" y="1417320"/>
            <a:ext cx="7589520" cy="3310864"/>
          </a:xfrm>
          <a:prstGeom prst="rect">
            <a:avLst/>
          </a:prstGeom>
          <a:ln w="12700">
            <a:solidFill>
              <a:srgbClr val="2A3350"/>
            </a:solidFill>
          </a:ln>
        </p:spPr>
      </p:pic>
      <p:sp>
        <p:nvSpPr>
          <p:cNvPr id="7" name="Rounded Rectangle 6"/>
          <p:cNvSpPr/>
          <p:nvPr/>
        </p:nvSpPr>
        <p:spPr>
          <a:xfrm>
            <a:off x="8458200" y="1417320"/>
            <a:ext cx="3200400" cy="457200"/>
          </a:xfrm>
          <a:prstGeom prst="roundRect">
            <a:avLst>
              <a:gd name="adj" fmla="val 20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595360" y="1490472"/>
            <a:ext cx="2926080" cy="320040"/>
          </a:xfrm>
          <a:prstGeom prst="rect">
            <a:avLst/>
          </a:prstGeom>
          <a:noFill/>
        </p:spPr>
        <p:txBody>
          <a:bodyPr wrap="square" lIns="36576" rIns="36576" tIns="18288" bIns="18288" anchor="t">
            <a:spAutoFit/>
          </a:bodyPr>
          <a:lstStyle/>
          <a:p>
            <a:pPr algn="l">
              <a:lnSpc>
                <a:spcPct val="105000"/>
              </a:lnSpc>
            </a:pPr>
            <a:r>
              <a:rPr sz="1300" b="0" i="0">
                <a:solidFill>
                  <a:srgbClr val="E8ECF5"/>
                </a:solidFill>
                <a:latin typeface="Calibri"/>
              </a:rPr>
              <a:t>1   Churn Overview</a:t>
            </a:r>
          </a:p>
        </p:txBody>
      </p:sp>
      <p:sp>
        <p:nvSpPr>
          <p:cNvPr id="9" name="Rounded Rectangle 8"/>
          <p:cNvSpPr/>
          <p:nvPr/>
        </p:nvSpPr>
        <p:spPr>
          <a:xfrm>
            <a:off x="8458200" y="1984248"/>
            <a:ext cx="3200400" cy="457200"/>
          </a:xfrm>
          <a:prstGeom prst="roundRect">
            <a:avLst>
              <a:gd name="adj" fmla="val 20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595360" y="2057400"/>
            <a:ext cx="2926080" cy="320040"/>
          </a:xfrm>
          <a:prstGeom prst="rect">
            <a:avLst/>
          </a:prstGeom>
          <a:noFill/>
        </p:spPr>
        <p:txBody>
          <a:bodyPr wrap="square" lIns="36576" rIns="36576" tIns="18288" bIns="18288" anchor="t">
            <a:spAutoFit/>
          </a:bodyPr>
          <a:lstStyle/>
          <a:p>
            <a:pPr algn="l">
              <a:lnSpc>
                <a:spcPct val="105000"/>
              </a:lnSpc>
            </a:pPr>
            <a:r>
              <a:rPr sz="1300" b="0" i="0">
                <a:solidFill>
                  <a:srgbClr val="E8ECF5"/>
                </a:solidFill>
                <a:latin typeface="Calibri"/>
              </a:rPr>
              <a:t>2   Geography</a:t>
            </a:r>
          </a:p>
        </p:txBody>
      </p:sp>
      <p:sp>
        <p:nvSpPr>
          <p:cNvPr id="11" name="Rounded Rectangle 10"/>
          <p:cNvSpPr/>
          <p:nvPr/>
        </p:nvSpPr>
        <p:spPr>
          <a:xfrm>
            <a:off x="8458200" y="2551176"/>
            <a:ext cx="3200400" cy="457200"/>
          </a:xfrm>
          <a:prstGeom prst="roundRect">
            <a:avLst>
              <a:gd name="adj" fmla="val 20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95360" y="2624328"/>
            <a:ext cx="2926080" cy="320040"/>
          </a:xfrm>
          <a:prstGeom prst="rect">
            <a:avLst/>
          </a:prstGeom>
          <a:noFill/>
        </p:spPr>
        <p:txBody>
          <a:bodyPr wrap="square" lIns="36576" rIns="36576" tIns="18288" bIns="18288" anchor="t">
            <a:spAutoFit/>
          </a:bodyPr>
          <a:lstStyle/>
          <a:p>
            <a:pPr algn="l">
              <a:lnSpc>
                <a:spcPct val="105000"/>
              </a:lnSpc>
            </a:pPr>
            <a:r>
              <a:rPr sz="1300" b="0" i="0">
                <a:solidFill>
                  <a:srgbClr val="E8ECF5"/>
                </a:solidFill>
                <a:latin typeface="Calibri"/>
              </a:rPr>
              <a:t>3   Tenure &amp; Engagement</a:t>
            </a:r>
          </a:p>
        </p:txBody>
      </p:sp>
      <p:sp>
        <p:nvSpPr>
          <p:cNvPr id="13" name="Rounded Rectangle 12"/>
          <p:cNvSpPr/>
          <p:nvPr/>
        </p:nvSpPr>
        <p:spPr>
          <a:xfrm>
            <a:off x="8458200" y="3118104"/>
            <a:ext cx="3200400" cy="457200"/>
          </a:xfrm>
          <a:prstGeom prst="roundRect">
            <a:avLst>
              <a:gd name="adj" fmla="val 20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95360" y="3191256"/>
            <a:ext cx="2926080" cy="320040"/>
          </a:xfrm>
          <a:prstGeom prst="rect">
            <a:avLst/>
          </a:prstGeom>
          <a:noFill/>
        </p:spPr>
        <p:txBody>
          <a:bodyPr wrap="square" lIns="36576" rIns="36576" tIns="18288" bIns="18288" anchor="t">
            <a:spAutoFit/>
          </a:bodyPr>
          <a:lstStyle/>
          <a:p>
            <a:pPr algn="l">
              <a:lnSpc>
                <a:spcPct val="105000"/>
              </a:lnSpc>
            </a:pPr>
            <a:r>
              <a:rPr sz="1300" b="0" i="0">
                <a:solidFill>
                  <a:srgbClr val="E8ECF5"/>
                </a:solidFill>
                <a:latin typeface="Calibri"/>
              </a:rPr>
              <a:t>4   Subscription &amp; Behavior</a:t>
            </a:r>
          </a:p>
        </p:txBody>
      </p:sp>
      <p:sp>
        <p:nvSpPr>
          <p:cNvPr id="15" name="Rounded Rectangle 14"/>
          <p:cNvSpPr/>
          <p:nvPr/>
        </p:nvSpPr>
        <p:spPr>
          <a:xfrm>
            <a:off x="8458200" y="3685032"/>
            <a:ext cx="3200400" cy="457200"/>
          </a:xfrm>
          <a:prstGeom prst="roundRect">
            <a:avLst>
              <a:gd name="adj" fmla="val 20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95360" y="3758184"/>
            <a:ext cx="2926080" cy="320040"/>
          </a:xfrm>
          <a:prstGeom prst="rect">
            <a:avLst/>
          </a:prstGeom>
          <a:noFill/>
        </p:spPr>
        <p:txBody>
          <a:bodyPr wrap="square" lIns="36576" rIns="36576" tIns="18288" bIns="18288" anchor="t">
            <a:spAutoFit/>
          </a:bodyPr>
          <a:lstStyle/>
          <a:p>
            <a:pPr algn="l">
              <a:lnSpc>
                <a:spcPct val="105000"/>
              </a:lnSpc>
            </a:pPr>
            <a:r>
              <a:rPr sz="1300" b="0" i="0">
                <a:solidFill>
                  <a:srgbClr val="E8ECF5"/>
                </a:solidFill>
                <a:latin typeface="Calibri"/>
              </a:rPr>
              <a:t>5   Classification Model</a:t>
            </a:r>
          </a:p>
        </p:txBody>
      </p:sp>
      <p:sp>
        <p:nvSpPr>
          <p:cNvPr id="17" name="Rounded Rectangle 16"/>
          <p:cNvSpPr/>
          <p:nvPr/>
        </p:nvSpPr>
        <p:spPr>
          <a:xfrm>
            <a:off x="8458200" y="4251960"/>
            <a:ext cx="3200400" cy="457200"/>
          </a:xfrm>
          <a:prstGeom prst="roundRect">
            <a:avLst>
              <a:gd name="adj" fmla="val 20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95360" y="4325112"/>
            <a:ext cx="2926080" cy="320040"/>
          </a:xfrm>
          <a:prstGeom prst="rect">
            <a:avLst/>
          </a:prstGeom>
          <a:noFill/>
        </p:spPr>
        <p:txBody>
          <a:bodyPr wrap="square" lIns="36576" rIns="36576" tIns="18288" bIns="18288" anchor="t">
            <a:spAutoFit/>
          </a:bodyPr>
          <a:lstStyle/>
          <a:p>
            <a:pPr algn="l">
              <a:lnSpc>
                <a:spcPct val="105000"/>
              </a:lnSpc>
            </a:pPr>
            <a:r>
              <a:rPr sz="1300" b="0" i="0">
                <a:solidFill>
                  <a:srgbClr val="E8ECF5"/>
                </a:solidFill>
                <a:latin typeface="Calibri"/>
              </a:rPr>
              <a:t>6   Prediction &amp; Risk</a:t>
            </a:r>
          </a:p>
        </p:txBody>
      </p:sp>
      <p:sp>
        <p:nvSpPr>
          <p:cNvPr id="19" name="TextBox 18"/>
          <p:cNvSpPr txBox="1"/>
          <p:nvPr/>
        </p:nvSpPr>
        <p:spPr>
          <a:xfrm>
            <a:off x="548640" y="5029200"/>
            <a:ext cx="7589520" cy="1280160"/>
          </a:xfrm>
          <a:prstGeom prst="rect">
            <a:avLst/>
          </a:prstGeom>
          <a:noFill/>
        </p:spPr>
        <p:txBody>
          <a:bodyPr wrap="square">
            <a:spAutoFit/>
          </a:bodyPr>
          <a:lstStyle/>
          <a:p>
            <a:pPr>
              <a:lnSpc>
                <a:spcPct val="105000"/>
              </a:lnSpc>
              <a:spcAft>
                <a:spcPts val="400"/>
              </a:spcAft>
            </a:pPr>
            <a:r>
              <a:rPr sz="1250">
                <a:solidFill>
                  <a:srgbClr val="00D4AA"/>
                </a:solidFill>
                <a:latin typeface="Calibri"/>
              </a:rPr>
              <a:t>▪  </a:t>
            </a:r>
            <a:r>
              <a:rPr sz="1250" b="0">
                <a:solidFill>
                  <a:srgbClr val="E8ECF5"/>
                </a:solidFill>
                <a:latin typeface="Calibri"/>
              </a:rPr>
              <a:t>Filters: </a:t>
            </a:r>
            <a:r>
              <a:rPr sz="1250" b="1">
                <a:solidFill>
                  <a:srgbClr val="E8ECF5"/>
                </a:solidFill>
                <a:latin typeface="Calibri"/>
              </a:rPr>
              <a:t>Country, Plan Tier, Industry</a:t>
            </a:r>
            <a:r>
              <a:rPr sz="1250" b="0">
                <a:solidFill>
                  <a:srgbClr val="E8ECF5"/>
                </a:solidFill>
                <a:latin typeface="Calibri"/>
              </a:rPr>
              <a:t>; four KPI cards: 500 customers, 110 churned, 22.0%, $2,264.18 average MRR</a:t>
            </a:r>
          </a:p>
          <a:p>
            <a:pPr>
              <a:lnSpc>
                <a:spcPct val="105000"/>
              </a:lnSpc>
              <a:spcAft>
                <a:spcPts val="400"/>
              </a:spcAft>
            </a:pPr>
            <a:r>
              <a:rPr sz="1250">
                <a:solidFill>
                  <a:srgbClr val="00D4AA"/>
                </a:solidFill>
                <a:latin typeface="Calibri"/>
              </a:rPr>
              <a:t>▪  </a:t>
            </a:r>
            <a:r>
              <a:rPr sz="1250" b="0">
                <a:solidFill>
                  <a:srgbClr val="E8ECF5"/>
                </a:solidFill>
                <a:latin typeface="Calibri"/>
              </a:rPr>
              <a:t>Charts built with </a:t>
            </a:r>
            <a:r>
              <a:rPr sz="1250" b="1">
                <a:solidFill>
                  <a:srgbClr val="E8ECF5"/>
                </a:solidFill>
                <a:latin typeface="Calibri"/>
              </a:rPr>
              <a:t>Plotly Express</a:t>
            </a:r>
            <a:r>
              <a:rPr sz="1250" b="0">
                <a:solidFill>
                  <a:srgbClr val="E8ECF5"/>
                </a:solidFill>
                <a:latin typeface="Calibri"/>
              </a:rPr>
              <a:t>; custom dark theme (CSS)</a:t>
            </a:r>
          </a:p>
          <a:p>
            <a:pPr>
              <a:lnSpc>
                <a:spcPct val="105000"/>
              </a:lnSpc>
              <a:spcAft>
                <a:spcPts val="400"/>
              </a:spcAft>
            </a:pPr>
            <a:r>
              <a:rPr sz="1250">
                <a:solidFill>
                  <a:srgbClr val="00D4AA"/>
                </a:solidFill>
                <a:latin typeface="Calibri"/>
              </a:rPr>
              <a:t>▪  </a:t>
            </a:r>
            <a:r>
              <a:rPr sz="1250" b="0">
                <a:solidFill>
                  <a:srgbClr val="E8ECF5"/>
                </a:solidFill>
                <a:latin typeface="Calibri"/>
              </a:rPr>
              <a:t>Insight boxes and recommendation cards are </a:t>
            </a:r>
            <a:r>
              <a:rPr sz="1250" b="1">
                <a:solidFill>
                  <a:srgbClr val="E8ECF5"/>
                </a:solidFill>
                <a:latin typeface="Calibri"/>
              </a:rPr>
              <a:t>static text</a:t>
            </a:r>
            <a:r>
              <a:rPr sz="1250" b="0">
                <a:solidFill>
                  <a:srgbClr val="E8ECF5"/>
                </a:solidFill>
                <a:latin typeface="Calibri"/>
              </a:rPr>
              <a:t> written in the app code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DASHBOARD VIEWS</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Segment and behaviour charts</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8</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pic>
        <p:nvPicPr>
          <p:cNvPr id="6" name="Picture 5" descr="03_geo_heatmap.png"/>
          <p:cNvPicPr>
            <a:picLocks noChangeAspect="1"/>
          </p:cNvPicPr>
          <p:nvPr/>
        </p:nvPicPr>
        <p:blipFill>
          <a:blip r:embed="rId2"/>
          <a:stretch>
            <a:fillRect/>
          </a:stretch>
        </p:blipFill>
        <p:spPr>
          <a:xfrm>
            <a:off x="548640" y="1417320"/>
            <a:ext cx="5486400" cy="3358913"/>
          </a:xfrm>
          <a:prstGeom prst="rect">
            <a:avLst/>
          </a:prstGeom>
          <a:ln w="12700">
            <a:solidFill>
              <a:srgbClr val="2A3350"/>
            </a:solidFill>
          </a:ln>
        </p:spPr>
      </p:pic>
      <p:sp>
        <p:nvSpPr>
          <p:cNvPr id="7" name="TextBox 6"/>
          <p:cNvSpPr txBox="1"/>
          <p:nvPr/>
        </p:nvSpPr>
        <p:spPr>
          <a:xfrm>
            <a:off x="548640" y="4892040"/>
            <a:ext cx="5486400" cy="640080"/>
          </a:xfrm>
          <a:prstGeom prst="rect">
            <a:avLst/>
          </a:prstGeom>
          <a:noFill/>
        </p:spPr>
        <p:txBody>
          <a:bodyPr wrap="square" lIns="36576" rIns="36576" tIns="18288" bIns="18288" anchor="t">
            <a:spAutoFit/>
          </a:bodyPr>
          <a:lstStyle/>
          <a:p>
            <a:pPr algn="l">
              <a:lnSpc>
                <a:spcPct val="105000"/>
              </a:lnSpc>
            </a:pPr>
            <a:r>
              <a:rPr sz="1200" b="1" i="0">
                <a:solidFill>
                  <a:srgbClr val="E8ECF5"/>
                </a:solidFill>
                <a:latin typeface="Calibri"/>
              </a:rPr>
              <a:t>Geography:</a:t>
            </a:r>
            <a:r>
              <a:rPr sz="1200" b="0" i="0">
                <a:solidFill>
                  <a:srgbClr val="9AA5BF"/>
                </a:solidFill>
                <a:latin typeface="Calibri"/>
              </a:rPr>
              <a:t> churn rate by country and plan. Germany highest (32%); several cells rest on very few accounts.</a:t>
            </a:r>
          </a:p>
        </p:txBody>
      </p:sp>
      <p:pic>
        <p:nvPicPr>
          <p:cNvPr id="8" name="Picture 7" descr="07_changes.png"/>
          <p:cNvPicPr>
            <a:picLocks noChangeAspect="1"/>
          </p:cNvPicPr>
          <p:nvPr/>
        </p:nvPicPr>
        <p:blipFill>
          <a:blip r:embed="rId3"/>
          <a:stretch>
            <a:fillRect/>
          </a:stretch>
        </p:blipFill>
        <p:spPr>
          <a:xfrm>
            <a:off x="6309360" y="1417320"/>
            <a:ext cx="5303520" cy="2836648"/>
          </a:xfrm>
          <a:prstGeom prst="rect">
            <a:avLst/>
          </a:prstGeom>
          <a:ln w="12700">
            <a:solidFill>
              <a:srgbClr val="2A3350"/>
            </a:solidFill>
          </a:ln>
        </p:spPr>
      </p:pic>
      <p:sp>
        <p:nvSpPr>
          <p:cNvPr id="9" name="TextBox 8"/>
          <p:cNvSpPr txBox="1"/>
          <p:nvPr/>
        </p:nvSpPr>
        <p:spPr>
          <a:xfrm>
            <a:off x="6309360" y="4526280"/>
            <a:ext cx="5303520" cy="1097280"/>
          </a:xfrm>
          <a:prstGeom prst="rect">
            <a:avLst/>
          </a:prstGeom>
          <a:noFill/>
        </p:spPr>
        <p:txBody>
          <a:bodyPr wrap="square" lIns="36576" rIns="36576" tIns="18288" bIns="18288" anchor="t">
            <a:spAutoFit/>
          </a:bodyPr>
          <a:lstStyle/>
          <a:p>
            <a:pPr algn="l">
              <a:lnSpc>
                <a:spcPct val="105000"/>
              </a:lnSpc>
            </a:pPr>
            <a:r>
              <a:rPr sz="1200" b="1" i="0">
                <a:solidFill>
                  <a:srgbClr val="E8ECF5"/>
                </a:solidFill>
                <a:latin typeface="Calibri"/>
              </a:rPr>
              <a:t>Subscription behaviour:</a:t>
            </a:r>
            <a:r>
              <a:rPr sz="1200" b="0" i="0">
                <a:solidFill>
                  <a:srgbClr val="9AA5BF"/>
                </a:solidFill>
                <a:latin typeface="Calibri"/>
              </a:rPr>
              <a:t> upgrades 1.06 vs 1.05 and downgrades 0.44 vs 0.43 - nearly identical.</a:t>
            </a:r>
          </a:p>
          <a:p>
            <a:pPr algn="l">
              <a:lnSpc>
                <a:spcPct val="105000"/>
              </a:lnSpc>
            </a:pPr>
            <a:r>
              <a:rPr sz="1200" b="0" i="0">
                <a:solidFill>
                  <a:srgbClr val="9AA5BF"/>
                </a:solidFill>
                <a:latin typeface="Calibri"/>
              </a:rPr>
              <a:t>Average MRR: retained $2,315.30 vs churned $2,082.92.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MODELLING</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Select on validation, evaluate once on test</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9</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sp>
        <p:nvSpPr>
          <p:cNvPr id="6" name="Rounded Rectangle 5"/>
          <p:cNvSpPr/>
          <p:nvPr/>
        </p:nvSpPr>
        <p:spPr>
          <a:xfrm>
            <a:off x="457200" y="1920240"/>
            <a:ext cx="1737360" cy="210312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920240"/>
            <a:ext cx="1517904" cy="45720"/>
          </a:xfrm>
          <a:prstGeom prst="rect">
            <a:avLst/>
          </a:prstGeom>
          <a:solidFill>
            <a:srgbClr val="FFB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30352" y="2103120"/>
            <a:ext cx="1591056" cy="320040"/>
          </a:xfrm>
          <a:prstGeom prst="rect">
            <a:avLst/>
          </a:prstGeom>
          <a:noFill/>
        </p:spPr>
        <p:txBody>
          <a:bodyPr wrap="square" lIns="36576" rIns="36576" tIns="18288" bIns="18288" anchor="t">
            <a:spAutoFit/>
          </a:bodyPr>
          <a:lstStyle/>
          <a:p>
            <a:pPr algn="ctr">
              <a:lnSpc>
                <a:spcPct val="105000"/>
              </a:lnSpc>
            </a:pPr>
            <a:r>
              <a:rPr sz="1350" b="1" i="0">
                <a:solidFill>
                  <a:srgbClr val="E8ECF5"/>
                </a:solidFill>
                <a:latin typeface="Calibri"/>
              </a:rPr>
              <a:t>500 accounts</a:t>
            </a:r>
          </a:p>
        </p:txBody>
      </p:sp>
      <p:sp>
        <p:nvSpPr>
          <p:cNvPr id="9" name="TextBox 8"/>
          <p:cNvSpPr txBox="1"/>
          <p:nvPr/>
        </p:nvSpPr>
        <p:spPr>
          <a:xfrm>
            <a:off x="530352" y="2560320"/>
            <a:ext cx="1591056" cy="1371600"/>
          </a:xfrm>
          <a:prstGeom prst="rect">
            <a:avLst/>
          </a:prstGeom>
          <a:noFill/>
        </p:spPr>
        <p:txBody>
          <a:bodyPr wrap="square" lIns="36576" rIns="36576" tIns="18288" bIns="18288" anchor="t">
            <a:spAutoFit/>
          </a:bodyPr>
          <a:lstStyle/>
          <a:p>
            <a:pPr algn="ctr">
              <a:lnSpc>
                <a:spcPct val="105000"/>
              </a:lnSpc>
            </a:pPr>
            <a:r>
              <a:rPr sz="1250" b="0" i="0">
                <a:solidFill>
                  <a:srgbClr val="9AA5BF"/>
                </a:solidFill>
                <a:latin typeface="Calibri"/>
              </a:rPr>
              <a:t>19 features</a:t>
            </a:r>
          </a:p>
          <a:p>
            <a:pPr algn="ctr">
              <a:lnSpc>
                <a:spcPct val="105000"/>
              </a:lnSpc>
            </a:pPr>
            <a:r>
              <a:rPr sz="1250" b="0" i="0">
                <a:solidFill>
                  <a:srgbClr val="9AA5BF"/>
                </a:solidFill>
                <a:latin typeface="Calibri"/>
              </a:rPr>
              <a:t>110 churned</a:t>
            </a:r>
          </a:p>
        </p:txBody>
      </p:sp>
      <p:cxnSp>
        <p:nvCxnSpPr>
          <p:cNvPr id="10" name="Connector 9"/>
          <p:cNvCxnSpPr/>
          <p:nvPr/>
        </p:nvCxnSpPr>
        <p:spPr>
          <a:xfrm>
            <a:off x="2194560" y="2971800"/>
            <a:ext cx="182880" cy="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377440" y="1920240"/>
            <a:ext cx="1737360" cy="210312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87168" y="1920240"/>
            <a:ext cx="1517904"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450592" y="2103120"/>
            <a:ext cx="1591056" cy="320040"/>
          </a:xfrm>
          <a:prstGeom prst="rect">
            <a:avLst/>
          </a:prstGeom>
          <a:noFill/>
        </p:spPr>
        <p:txBody>
          <a:bodyPr wrap="square" lIns="36576" rIns="36576" tIns="18288" bIns="18288" anchor="t">
            <a:spAutoFit/>
          </a:bodyPr>
          <a:lstStyle/>
          <a:p>
            <a:pPr algn="ctr">
              <a:lnSpc>
                <a:spcPct val="105000"/>
              </a:lnSpc>
            </a:pPr>
            <a:r>
              <a:rPr sz="1350" b="1" i="0">
                <a:solidFill>
                  <a:srgbClr val="E8ECF5"/>
                </a:solidFill>
                <a:latin typeface="Calibri"/>
              </a:rPr>
              <a:t>Stratified split</a:t>
            </a:r>
          </a:p>
        </p:txBody>
      </p:sp>
      <p:sp>
        <p:nvSpPr>
          <p:cNvPr id="14" name="TextBox 13"/>
          <p:cNvSpPr txBox="1"/>
          <p:nvPr/>
        </p:nvSpPr>
        <p:spPr>
          <a:xfrm>
            <a:off x="2450592" y="2560320"/>
            <a:ext cx="1591056" cy="1371600"/>
          </a:xfrm>
          <a:prstGeom prst="rect">
            <a:avLst/>
          </a:prstGeom>
          <a:noFill/>
        </p:spPr>
        <p:txBody>
          <a:bodyPr wrap="square" lIns="36576" rIns="36576" tIns="18288" bIns="18288" anchor="t">
            <a:spAutoFit/>
          </a:bodyPr>
          <a:lstStyle/>
          <a:p>
            <a:pPr algn="ctr">
              <a:lnSpc>
                <a:spcPct val="105000"/>
              </a:lnSpc>
            </a:pPr>
            <a:r>
              <a:rPr sz="1250" b="0" i="0">
                <a:solidFill>
                  <a:srgbClr val="9AA5BF"/>
                </a:solidFill>
                <a:latin typeface="Calibri"/>
              </a:rPr>
              <a:t>train 300</a:t>
            </a:r>
          </a:p>
          <a:p>
            <a:pPr algn="ctr">
              <a:lnSpc>
                <a:spcPct val="105000"/>
              </a:lnSpc>
            </a:pPr>
            <a:r>
              <a:rPr sz="1250" b="0" i="0">
                <a:solidFill>
                  <a:srgbClr val="9AA5BF"/>
                </a:solidFill>
                <a:latin typeface="Calibri"/>
              </a:rPr>
              <a:t>validation 100</a:t>
            </a:r>
          </a:p>
          <a:p>
            <a:pPr algn="ctr">
              <a:lnSpc>
                <a:spcPct val="105000"/>
              </a:lnSpc>
            </a:pPr>
            <a:r>
              <a:rPr sz="1250" b="0" i="0">
                <a:solidFill>
                  <a:srgbClr val="9AA5BF"/>
                </a:solidFill>
                <a:latin typeface="Calibri"/>
              </a:rPr>
              <a:t>test 100</a:t>
            </a:r>
          </a:p>
        </p:txBody>
      </p:sp>
      <p:cxnSp>
        <p:nvCxnSpPr>
          <p:cNvPr id="15" name="Connector 14"/>
          <p:cNvCxnSpPr/>
          <p:nvPr/>
        </p:nvCxnSpPr>
        <p:spPr>
          <a:xfrm>
            <a:off x="4114800" y="2971800"/>
            <a:ext cx="182880" cy="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97680" y="1920240"/>
            <a:ext cx="1737360" cy="210312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07408" y="1920240"/>
            <a:ext cx="1517904"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70832" y="2103120"/>
            <a:ext cx="1591056" cy="320040"/>
          </a:xfrm>
          <a:prstGeom prst="rect">
            <a:avLst/>
          </a:prstGeom>
          <a:noFill/>
        </p:spPr>
        <p:txBody>
          <a:bodyPr wrap="square" lIns="36576" rIns="36576" tIns="18288" bIns="18288" anchor="t">
            <a:spAutoFit/>
          </a:bodyPr>
          <a:lstStyle/>
          <a:p>
            <a:pPr algn="ctr">
              <a:lnSpc>
                <a:spcPct val="105000"/>
              </a:lnSpc>
            </a:pPr>
            <a:r>
              <a:rPr sz="1350" b="1" i="0">
                <a:solidFill>
                  <a:srgbClr val="E8ECF5"/>
                </a:solidFill>
                <a:latin typeface="Calibri"/>
              </a:rPr>
              <a:t>Pipeline</a:t>
            </a:r>
          </a:p>
        </p:txBody>
      </p:sp>
      <p:sp>
        <p:nvSpPr>
          <p:cNvPr id="19" name="TextBox 18"/>
          <p:cNvSpPr txBox="1"/>
          <p:nvPr/>
        </p:nvSpPr>
        <p:spPr>
          <a:xfrm>
            <a:off x="4370832" y="2560320"/>
            <a:ext cx="1591056" cy="1371600"/>
          </a:xfrm>
          <a:prstGeom prst="rect">
            <a:avLst/>
          </a:prstGeom>
          <a:noFill/>
        </p:spPr>
        <p:txBody>
          <a:bodyPr wrap="square" lIns="36576" rIns="36576" tIns="18288" bIns="18288" anchor="t">
            <a:spAutoFit/>
          </a:bodyPr>
          <a:lstStyle/>
          <a:p>
            <a:pPr algn="ctr">
              <a:lnSpc>
                <a:spcPct val="105000"/>
              </a:lnSpc>
            </a:pPr>
            <a:r>
              <a:rPr sz="1250" b="0" i="0">
                <a:solidFill>
                  <a:srgbClr val="9AA5BF"/>
                </a:solidFill>
                <a:latin typeface="Calibri"/>
              </a:rPr>
              <a:t>numeric: median impute</a:t>
            </a:r>
          </a:p>
          <a:p>
            <a:pPr algn="ctr">
              <a:lnSpc>
                <a:spcPct val="105000"/>
              </a:lnSpc>
            </a:pPr>
            <a:r>
              <a:rPr sz="1250" b="0" i="0">
                <a:solidFill>
                  <a:srgbClr val="9AA5BF"/>
                </a:solidFill>
                <a:latin typeface="Calibri"/>
              </a:rPr>
              <a:t>categorical: impute + one-hot</a:t>
            </a:r>
          </a:p>
        </p:txBody>
      </p:sp>
      <p:cxnSp>
        <p:nvCxnSpPr>
          <p:cNvPr id="20" name="Connector 19"/>
          <p:cNvCxnSpPr/>
          <p:nvPr/>
        </p:nvCxnSpPr>
        <p:spPr>
          <a:xfrm>
            <a:off x="6035040" y="2971800"/>
            <a:ext cx="182880" cy="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6217920" y="1920240"/>
            <a:ext cx="1737360" cy="210312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327648" y="1920240"/>
            <a:ext cx="1517904"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91072" y="2103120"/>
            <a:ext cx="1591056" cy="320040"/>
          </a:xfrm>
          <a:prstGeom prst="rect">
            <a:avLst/>
          </a:prstGeom>
          <a:noFill/>
        </p:spPr>
        <p:txBody>
          <a:bodyPr wrap="square" lIns="36576" rIns="36576" tIns="18288" bIns="18288" anchor="t">
            <a:spAutoFit/>
          </a:bodyPr>
          <a:lstStyle/>
          <a:p>
            <a:pPr algn="ctr">
              <a:lnSpc>
                <a:spcPct val="105000"/>
              </a:lnSpc>
            </a:pPr>
            <a:r>
              <a:rPr sz="1350" b="1" i="0">
                <a:solidFill>
                  <a:srgbClr val="E8ECF5"/>
                </a:solidFill>
                <a:latin typeface="Calibri"/>
              </a:rPr>
              <a:t>3 candidates</a:t>
            </a:r>
          </a:p>
        </p:txBody>
      </p:sp>
      <p:sp>
        <p:nvSpPr>
          <p:cNvPr id="24" name="TextBox 23"/>
          <p:cNvSpPr txBox="1"/>
          <p:nvPr/>
        </p:nvSpPr>
        <p:spPr>
          <a:xfrm>
            <a:off x="6291072" y="2560320"/>
            <a:ext cx="1591056" cy="1371600"/>
          </a:xfrm>
          <a:prstGeom prst="rect">
            <a:avLst/>
          </a:prstGeom>
          <a:noFill/>
        </p:spPr>
        <p:txBody>
          <a:bodyPr wrap="square" lIns="36576" rIns="36576" tIns="18288" bIns="18288" anchor="t">
            <a:spAutoFit/>
          </a:bodyPr>
          <a:lstStyle/>
          <a:p>
            <a:pPr algn="ctr">
              <a:lnSpc>
                <a:spcPct val="105000"/>
              </a:lnSpc>
            </a:pPr>
            <a:r>
              <a:rPr sz="1250" b="0" i="0">
                <a:solidFill>
                  <a:srgbClr val="9AA5BF"/>
                </a:solidFill>
                <a:latin typeface="Calibri"/>
              </a:rPr>
              <a:t>Logistic Regression</a:t>
            </a:r>
          </a:p>
          <a:p>
            <a:pPr algn="ctr">
              <a:lnSpc>
                <a:spcPct val="105000"/>
              </a:lnSpc>
            </a:pPr>
            <a:r>
              <a:rPr sz="1250" b="0" i="0">
                <a:solidFill>
                  <a:srgbClr val="9AA5BF"/>
                </a:solidFill>
                <a:latin typeface="Calibri"/>
              </a:rPr>
              <a:t>Random Forest</a:t>
            </a:r>
          </a:p>
          <a:p>
            <a:pPr algn="ctr">
              <a:lnSpc>
                <a:spcPct val="105000"/>
              </a:lnSpc>
            </a:pPr>
            <a:r>
              <a:rPr sz="1250" b="0" i="0">
                <a:solidFill>
                  <a:srgbClr val="9AA5BF"/>
                </a:solidFill>
                <a:latin typeface="Calibri"/>
              </a:rPr>
              <a:t>Gradient Boosting</a:t>
            </a:r>
          </a:p>
        </p:txBody>
      </p:sp>
      <p:cxnSp>
        <p:nvCxnSpPr>
          <p:cNvPr id="25" name="Connector 24"/>
          <p:cNvCxnSpPr/>
          <p:nvPr/>
        </p:nvCxnSpPr>
        <p:spPr>
          <a:xfrm>
            <a:off x="7955280" y="2971800"/>
            <a:ext cx="182880" cy="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8138160" y="1920240"/>
            <a:ext cx="1737360" cy="210312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247888" y="1920240"/>
            <a:ext cx="1517904"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11312" y="2103120"/>
            <a:ext cx="1591056" cy="320040"/>
          </a:xfrm>
          <a:prstGeom prst="rect">
            <a:avLst/>
          </a:prstGeom>
          <a:noFill/>
        </p:spPr>
        <p:txBody>
          <a:bodyPr wrap="square" lIns="36576" rIns="36576" tIns="18288" bIns="18288" anchor="t">
            <a:spAutoFit/>
          </a:bodyPr>
          <a:lstStyle/>
          <a:p>
            <a:pPr algn="ctr">
              <a:lnSpc>
                <a:spcPct val="105000"/>
              </a:lnSpc>
            </a:pPr>
            <a:r>
              <a:rPr sz="1350" b="1" i="0">
                <a:solidFill>
                  <a:srgbClr val="E8ECF5"/>
                </a:solidFill>
                <a:latin typeface="Calibri"/>
              </a:rPr>
              <a:t>Selection</a:t>
            </a:r>
          </a:p>
        </p:txBody>
      </p:sp>
      <p:sp>
        <p:nvSpPr>
          <p:cNvPr id="29" name="TextBox 28"/>
          <p:cNvSpPr txBox="1"/>
          <p:nvPr/>
        </p:nvSpPr>
        <p:spPr>
          <a:xfrm>
            <a:off x="8211312" y="2560320"/>
            <a:ext cx="1591056" cy="1371600"/>
          </a:xfrm>
          <a:prstGeom prst="rect">
            <a:avLst/>
          </a:prstGeom>
          <a:noFill/>
        </p:spPr>
        <p:txBody>
          <a:bodyPr wrap="square" lIns="36576" rIns="36576" tIns="18288" bIns="18288" anchor="t">
            <a:spAutoFit/>
          </a:bodyPr>
          <a:lstStyle/>
          <a:p>
            <a:pPr algn="ctr">
              <a:lnSpc>
                <a:spcPct val="105000"/>
              </a:lnSpc>
            </a:pPr>
            <a:r>
              <a:rPr sz="1250" b="0" i="0">
                <a:solidFill>
                  <a:srgbClr val="9AA5BF"/>
                </a:solidFill>
                <a:latin typeface="Calibri"/>
              </a:rPr>
              <a:t>validation set</a:t>
            </a:r>
          </a:p>
          <a:p>
            <a:pPr algn="ctr">
              <a:lnSpc>
                <a:spcPct val="105000"/>
              </a:lnSpc>
            </a:pPr>
            <a:r>
              <a:rPr sz="1250" b="0" i="0">
                <a:solidFill>
                  <a:srgbClr val="9AA5BF"/>
                </a:solidFill>
                <a:latin typeface="Calibri"/>
              </a:rPr>
              <a:t>GB chosen</a:t>
            </a:r>
          </a:p>
          <a:p>
            <a:pPr algn="ctr">
              <a:lnSpc>
                <a:spcPct val="105000"/>
              </a:lnSpc>
            </a:pPr>
            <a:r>
              <a:rPr sz="1250" b="0" i="0">
                <a:solidFill>
                  <a:srgbClr val="9AA5BF"/>
                </a:solidFill>
                <a:latin typeface="Calibri"/>
              </a:rPr>
              <a:t>threshold 0.40</a:t>
            </a:r>
          </a:p>
        </p:txBody>
      </p:sp>
      <p:cxnSp>
        <p:nvCxnSpPr>
          <p:cNvPr id="30" name="Connector 29"/>
          <p:cNvCxnSpPr/>
          <p:nvPr/>
        </p:nvCxnSpPr>
        <p:spPr>
          <a:xfrm>
            <a:off x="9875520" y="2971800"/>
            <a:ext cx="182880" cy="0"/>
          </a:xfrm>
          <a:prstGeom prst="line">
            <a:avLst/>
          </a:prstGeom>
          <a:ln w="22225">
            <a:solidFill>
              <a:srgbClr val="9AA5B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10058400" y="1920240"/>
            <a:ext cx="1737360" cy="210312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0168128" y="1920240"/>
            <a:ext cx="1517904" cy="4572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0131552" y="2103120"/>
            <a:ext cx="1591056" cy="320040"/>
          </a:xfrm>
          <a:prstGeom prst="rect">
            <a:avLst/>
          </a:prstGeom>
          <a:noFill/>
        </p:spPr>
        <p:txBody>
          <a:bodyPr wrap="square" lIns="36576" rIns="36576" tIns="18288" bIns="18288" anchor="t">
            <a:spAutoFit/>
          </a:bodyPr>
          <a:lstStyle/>
          <a:p>
            <a:pPr algn="ctr">
              <a:lnSpc>
                <a:spcPct val="105000"/>
              </a:lnSpc>
            </a:pPr>
            <a:r>
              <a:rPr sz="1350" b="1" i="0">
                <a:solidFill>
                  <a:srgbClr val="E8ECF5"/>
                </a:solidFill>
                <a:latin typeface="Calibri"/>
              </a:rPr>
              <a:t>Final test</a:t>
            </a:r>
          </a:p>
        </p:txBody>
      </p:sp>
      <p:sp>
        <p:nvSpPr>
          <p:cNvPr id="34" name="TextBox 33"/>
          <p:cNvSpPr txBox="1"/>
          <p:nvPr/>
        </p:nvSpPr>
        <p:spPr>
          <a:xfrm>
            <a:off x="10131552" y="2560320"/>
            <a:ext cx="1591056" cy="1371600"/>
          </a:xfrm>
          <a:prstGeom prst="rect">
            <a:avLst/>
          </a:prstGeom>
          <a:noFill/>
        </p:spPr>
        <p:txBody>
          <a:bodyPr wrap="square" lIns="36576" rIns="36576" tIns="18288" bIns="18288" anchor="t">
            <a:spAutoFit/>
          </a:bodyPr>
          <a:lstStyle/>
          <a:p>
            <a:pPr algn="ctr">
              <a:lnSpc>
                <a:spcPct val="105000"/>
              </a:lnSpc>
            </a:pPr>
            <a:r>
              <a:rPr sz="1250" b="0" i="0">
                <a:solidFill>
                  <a:srgbClr val="9AA5BF"/>
                </a:solidFill>
                <a:latin typeface="Calibri"/>
              </a:rPr>
              <a:t>scored once</a:t>
            </a:r>
          </a:p>
          <a:p>
            <a:pPr algn="ctr">
              <a:lnSpc>
                <a:spcPct val="105000"/>
              </a:lnSpc>
            </a:pPr>
            <a:r>
              <a:rPr sz="1250" b="0" i="0">
                <a:solidFill>
                  <a:srgbClr val="9AA5BF"/>
                </a:solidFill>
                <a:latin typeface="Calibri"/>
              </a:rPr>
              <a:t>n = 100</a:t>
            </a:r>
          </a:p>
        </p:txBody>
      </p:sp>
      <p:sp>
        <p:nvSpPr>
          <p:cNvPr id="35" name="TextBox 34"/>
          <p:cNvSpPr txBox="1"/>
          <p:nvPr/>
        </p:nvSpPr>
        <p:spPr>
          <a:xfrm>
            <a:off x="548640" y="4434840"/>
            <a:ext cx="10972800" cy="1828800"/>
          </a:xfrm>
          <a:prstGeom prst="rect">
            <a:avLst/>
          </a:prstGeom>
          <a:noFill/>
        </p:spPr>
        <p:txBody>
          <a:bodyPr wrap="square">
            <a:spAutoFit/>
          </a:bodyPr>
          <a:lstStyle/>
          <a:p>
            <a:pPr>
              <a:lnSpc>
                <a:spcPct val="105000"/>
              </a:lnSpc>
              <a:spcAft>
                <a:spcPts val="800"/>
              </a:spcAft>
            </a:pPr>
            <a:r>
              <a:rPr sz="1500">
                <a:solidFill>
                  <a:srgbClr val="00D4AA"/>
                </a:solidFill>
                <a:latin typeface="Calibri"/>
              </a:rPr>
              <a:t>▪  </a:t>
            </a:r>
            <a:r>
              <a:rPr sz="1500" b="0">
                <a:solidFill>
                  <a:srgbClr val="E8ECF5"/>
                </a:solidFill>
                <a:latin typeface="Calibri"/>
              </a:rPr>
              <a:t>Gradient Boosting: 150 trees, learning rate 0.05, depth 2, min leaf 5 (fixed settings; no tuning search recorded)</a:t>
            </a:r>
          </a:p>
          <a:p>
            <a:pPr>
              <a:lnSpc>
                <a:spcPct val="105000"/>
              </a:lnSpc>
              <a:spcAft>
                <a:spcPts val="800"/>
              </a:spcAft>
            </a:pPr>
            <a:r>
              <a:rPr sz="1500">
                <a:solidFill>
                  <a:srgbClr val="00D4AA"/>
                </a:solidFill>
                <a:latin typeface="Calibri"/>
              </a:rPr>
              <a:t>▪  </a:t>
            </a:r>
            <a:r>
              <a:rPr sz="1500" b="0">
                <a:solidFill>
                  <a:srgbClr val="E8ECF5"/>
                </a:solidFill>
                <a:latin typeface="Calibri"/>
              </a:rPr>
              <a:t>Threshold scanned 0.20–0.70 in steps of 0.05; best validation F1 = 0.757 at 0.40 (0.45 ties)</a:t>
            </a:r>
          </a:p>
          <a:p>
            <a:pPr>
              <a:lnSpc>
                <a:spcPct val="105000"/>
              </a:lnSpc>
              <a:spcAft>
                <a:spcPts val="800"/>
              </a:spcAft>
            </a:pPr>
            <a:r>
              <a:rPr sz="1500">
                <a:solidFill>
                  <a:srgbClr val="00D4AA"/>
                </a:solidFill>
                <a:latin typeface="Calibri"/>
              </a:rPr>
              <a:t>▪  </a:t>
            </a:r>
            <a:r>
              <a:rPr sz="1500" b="0">
                <a:solidFill>
                  <a:srgbClr val="E8ECF5"/>
                </a:solidFill>
                <a:latin typeface="Calibri"/>
              </a:rPr>
              <a:t>The model is fitted on the </a:t>
            </a:r>
            <a:r>
              <a:rPr sz="1500" b="1">
                <a:solidFill>
                  <a:srgbClr val="E8ECF5"/>
                </a:solidFill>
                <a:latin typeface="Calibri"/>
              </a:rPr>
              <a:t>training split only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MODEL SELECTION</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Validation results (n = 100, cutoff 0.50)</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10</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sp>
        <p:nvSpPr>
          <p:cNvPr id="6" name="Rounded Rectangle 5"/>
          <p:cNvSpPr/>
          <p:nvPr/>
        </p:nvSpPr>
        <p:spPr>
          <a:xfrm>
            <a:off x="548640" y="1371600"/>
            <a:ext cx="2377440" cy="256032"/>
          </a:xfrm>
          <a:prstGeom prst="roundRect">
            <a:avLst>
              <a:gd name="adj" fmla="val 50000"/>
            </a:avLst>
          </a:prstGeom>
          <a:solidFill>
            <a:srgbClr val="0B1020"/>
          </a:solidFill>
          <a:ln w="12700">
            <a:solidFill>
              <a:srgbClr val="FFB347"/>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FFB347"/>
                </a:solidFill>
                <a:latin typeface="Calibri"/>
              </a:rPr>
              <a:t>VALIDATION SET</a:t>
            </a:r>
          </a:p>
        </p:txBody>
      </p:sp>
      <p:graphicFrame>
        <p:nvGraphicFramePr>
          <p:cNvPr id="7" name="Table 6"/>
          <p:cNvGraphicFramePr>
            <a:graphicFrameLocks noGrp="1"/>
          </p:cNvGraphicFramePr>
          <p:nvPr/>
        </p:nvGraphicFramePr>
        <p:xfrm>
          <a:off x="548640" y="1828800"/>
          <a:ext cx="11064240" cy="2103120"/>
        </p:xfrm>
        <a:graphic>
          <a:graphicData uri="http://schemas.openxmlformats.org/drawingml/2006/table">
            <a:tbl>
              <a:tblPr firstRow="0" bandRow="0">
                <a:tableStyleId>{2D5ABB26-0587-4C30-8999-92F81FD0307C}</a:tableStyleId>
              </a:tblPr>
              <a:tblGrid>
                <a:gridCol w="3383280"/>
                <a:gridCol w="1554480"/>
                <a:gridCol w="1554480"/>
                <a:gridCol w="1554480"/>
                <a:gridCol w="1371600"/>
                <a:gridCol w="1645920"/>
              </a:tblGrid>
              <a:tr h="525780">
                <a:tc>
                  <a:txBody>
                    <a:bodyPr/>
                    <a:lstStyle/>
                    <a:p>
                      <a:pPr algn="l"/>
                      <a:r>
                        <a:rPr sz="1500" b="1">
                          <a:solidFill>
                            <a:srgbClr val="E8ECF5"/>
                          </a:solidFill>
                          <a:latin typeface="Calibri"/>
                        </a:rPr>
                        <a:t>Model</a:t>
                      </a:r>
                    </a:p>
                  </a:txBody>
                  <a:tcPr marL="91440" marR="91440" anchor="ctr">
                    <a:solidFill>
                      <a:srgbClr val="2E2A9E"/>
                    </a:solidFill>
                  </a:tcPr>
                </a:tc>
                <a:tc>
                  <a:txBody>
                    <a:bodyPr/>
                    <a:lstStyle/>
                    <a:p>
                      <a:pPr algn="ctr"/>
                      <a:r>
                        <a:rPr sz="1500" b="1">
                          <a:solidFill>
                            <a:srgbClr val="E8ECF5"/>
                          </a:solidFill>
                          <a:latin typeface="Calibri"/>
                        </a:rPr>
                        <a:t>Accuracy</a:t>
                      </a:r>
                    </a:p>
                  </a:txBody>
                  <a:tcPr marL="91440" marR="91440" anchor="ctr">
                    <a:solidFill>
                      <a:srgbClr val="2E2A9E"/>
                    </a:solidFill>
                  </a:tcPr>
                </a:tc>
                <a:tc>
                  <a:txBody>
                    <a:bodyPr/>
                    <a:lstStyle/>
                    <a:p>
                      <a:pPr algn="ctr"/>
                      <a:r>
                        <a:rPr sz="1500" b="1">
                          <a:solidFill>
                            <a:srgbClr val="E8ECF5"/>
                          </a:solidFill>
                          <a:latin typeface="Calibri"/>
                        </a:rPr>
                        <a:t>Precision</a:t>
                      </a:r>
                    </a:p>
                  </a:txBody>
                  <a:tcPr marL="91440" marR="91440" anchor="ctr">
                    <a:solidFill>
                      <a:srgbClr val="2E2A9E"/>
                    </a:solidFill>
                  </a:tcPr>
                </a:tc>
                <a:tc>
                  <a:txBody>
                    <a:bodyPr/>
                    <a:lstStyle/>
                    <a:p>
                      <a:pPr algn="ctr"/>
                      <a:r>
                        <a:rPr sz="1500" b="1">
                          <a:solidFill>
                            <a:srgbClr val="E8ECF5"/>
                          </a:solidFill>
                          <a:latin typeface="Calibri"/>
                        </a:rPr>
                        <a:t>Recall</a:t>
                      </a:r>
                    </a:p>
                  </a:txBody>
                  <a:tcPr marL="91440" marR="91440" anchor="ctr">
                    <a:solidFill>
                      <a:srgbClr val="2E2A9E"/>
                    </a:solidFill>
                  </a:tcPr>
                </a:tc>
                <a:tc>
                  <a:txBody>
                    <a:bodyPr/>
                    <a:lstStyle/>
                    <a:p>
                      <a:pPr algn="ctr"/>
                      <a:r>
                        <a:rPr sz="1500" b="1">
                          <a:solidFill>
                            <a:srgbClr val="E8ECF5"/>
                          </a:solidFill>
                          <a:latin typeface="Calibri"/>
                        </a:rPr>
                        <a:t>F1</a:t>
                      </a:r>
                    </a:p>
                  </a:txBody>
                  <a:tcPr marL="91440" marR="91440" anchor="ctr">
                    <a:solidFill>
                      <a:srgbClr val="2E2A9E"/>
                    </a:solidFill>
                  </a:tcPr>
                </a:tc>
                <a:tc>
                  <a:txBody>
                    <a:bodyPr/>
                    <a:lstStyle/>
                    <a:p>
                      <a:pPr algn="ctr"/>
                      <a:r>
                        <a:rPr sz="1500" b="1">
                          <a:solidFill>
                            <a:srgbClr val="E8ECF5"/>
                          </a:solidFill>
                          <a:latin typeface="Calibri"/>
                        </a:rPr>
                        <a:t>ROC-AUC</a:t>
                      </a:r>
                    </a:p>
                  </a:txBody>
                  <a:tcPr marL="91440" marR="91440" anchor="ctr">
                    <a:solidFill>
                      <a:srgbClr val="2E2A9E"/>
                    </a:solidFill>
                  </a:tcPr>
                </a:tc>
              </a:tr>
              <a:tr h="525780">
                <a:tc>
                  <a:txBody>
                    <a:bodyPr/>
                    <a:lstStyle/>
                    <a:p>
                      <a:pPr algn="l"/>
                      <a:r>
                        <a:rPr sz="1500" b="0">
                          <a:solidFill>
                            <a:srgbClr val="E8ECF5"/>
                          </a:solidFill>
                          <a:latin typeface="Calibri"/>
                        </a:rPr>
                        <a:t>Logistic Regression</a:t>
                      </a:r>
                    </a:p>
                  </a:txBody>
                  <a:tcPr marL="91440" marR="91440" anchor="ctr">
                    <a:solidFill>
                      <a:srgbClr val="141A2E"/>
                    </a:solidFill>
                  </a:tcPr>
                </a:tc>
                <a:tc>
                  <a:txBody>
                    <a:bodyPr/>
                    <a:lstStyle/>
                    <a:p>
                      <a:pPr algn="ctr"/>
                      <a:r>
                        <a:rPr sz="1500" b="0">
                          <a:solidFill>
                            <a:srgbClr val="E8ECF5"/>
                          </a:solidFill>
                          <a:latin typeface="Calibri"/>
                        </a:rPr>
                        <a:t>0.710</a:t>
                      </a:r>
                    </a:p>
                  </a:txBody>
                  <a:tcPr marL="91440" marR="91440" anchor="ctr">
                    <a:solidFill>
                      <a:srgbClr val="141A2E"/>
                    </a:solidFill>
                  </a:tcPr>
                </a:tc>
                <a:tc>
                  <a:txBody>
                    <a:bodyPr/>
                    <a:lstStyle/>
                    <a:p>
                      <a:pPr algn="ctr"/>
                      <a:r>
                        <a:rPr sz="1500" b="0">
                          <a:solidFill>
                            <a:srgbClr val="E8ECF5"/>
                          </a:solidFill>
                          <a:latin typeface="Calibri"/>
                        </a:rPr>
                        <a:t>0.370</a:t>
                      </a:r>
                    </a:p>
                  </a:txBody>
                  <a:tcPr marL="91440" marR="91440" anchor="ctr">
                    <a:solidFill>
                      <a:srgbClr val="141A2E"/>
                    </a:solidFill>
                  </a:tcPr>
                </a:tc>
                <a:tc>
                  <a:txBody>
                    <a:bodyPr/>
                    <a:lstStyle/>
                    <a:p>
                      <a:pPr algn="ctr"/>
                      <a:r>
                        <a:rPr sz="1500" b="0">
                          <a:solidFill>
                            <a:srgbClr val="E8ECF5"/>
                          </a:solidFill>
                          <a:latin typeface="Calibri"/>
                        </a:rPr>
                        <a:t>0.455</a:t>
                      </a:r>
                    </a:p>
                  </a:txBody>
                  <a:tcPr marL="91440" marR="91440" anchor="ctr">
                    <a:solidFill>
                      <a:srgbClr val="141A2E"/>
                    </a:solidFill>
                  </a:tcPr>
                </a:tc>
                <a:tc>
                  <a:txBody>
                    <a:bodyPr/>
                    <a:lstStyle/>
                    <a:p>
                      <a:pPr algn="ctr"/>
                      <a:r>
                        <a:rPr sz="1500" b="0">
                          <a:solidFill>
                            <a:srgbClr val="E8ECF5"/>
                          </a:solidFill>
                          <a:latin typeface="Calibri"/>
                        </a:rPr>
                        <a:t>0.408</a:t>
                      </a:r>
                    </a:p>
                  </a:txBody>
                  <a:tcPr marL="91440" marR="91440" anchor="ctr">
                    <a:solidFill>
                      <a:srgbClr val="141A2E"/>
                    </a:solidFill>
                  </a:tcPr>
                </a:tc>
                <a:tc>
                  <a:txBody>
                    <a:bodyPr/>
                    <a:lstStyle/>
                    <a:p>
                      <a:pPr algn="ctr"/>
                      <a:r>
                        <a:rPr sz="1500" b="0">
                          <a:solidFill>
                            <a:srgbClr val="E8ECF5"/>
                          </a:solidFill>
                          <a:latin typeface="Calibri"/>
                        </a:rPr>
                        <a:t>0.686</a:t>
                      </a:r>
                    </a:p>
                  </a:txBody>
                  <a:tcPr marL="91440" marR="91440" anchor="ctr">
                    <a:solidFill>
                      <a:srgbClr val="141A2E"/>
                    </a:solidFill>
                  </a:tcPr>
                </a:tc>
              </a:tr>
              <a:tr h="525780">
                <a:tc>
                  <a:txBody>
                    <a:bodyPr/>
                    <a:lstStyle/>
                    <a:p>
                      <a:pPr algn="l"/>
                      <a:r>
                        <a:rPr sz="1500" b="0">
                          <a:solidFill>
                            <a:srgbClr val="E8ECF5"/>
                          </a:solidFill>
                          <a:latin typeface="Calibri"/>
                        </a:rPr>
                        <a:t>Random Forest</a:t>
                      </a:r>
                    </a:p>
                  </a:txBody>
                  <a:tcPr marL="91440" marR="91440" anchor="ctr">
                    <a:solidFill>
                      <a:srgbClr val="141A2E"/>
                    </a:solidFill>
                  </a:tcPr>
                </a:tc>
                <a:tc>
                  <a:txBody>
                    <a:bodyPr/>
                    <a:lstStyle/>
                    <a:p>
                      <a:pPr algn="ctr"/>
                      <a:r>
                        <a:rPr sz="1500" b="0">
                          <a:solidFill>
                            <a:srgbClr val="E8ECF5"/>
                          </a:solidFill>
                          <a:latin typeface="Calibri"/>
                        </a:rPr>
                        <a:t>0.850</a:t>
                      </a:r>
                    </a:p>
                  </a:txBody>
                  <a:tcPr marL="91440" marR="91440" anchor="ctr">
                    <a:solidFill>
                      <a:srgbClr val="141A2E"/>
                    </a:solidFill>
                  </a:tcPr>
                </a:tc>
                <a:tc>
                  <a:txBody>
                    <a:bodyPr/>
                    <a:lstStyle/>
                    <a:p>
                      <a:pPr algn="ctr"/>
                      <a:r>
                        <a:rPr sz="1500" b="0">
                          <a:solidFill>
                            <a:srgbClr val="E8ECF5"/>
                          </a:solidFill>
                          <a:latin typeface="Calibri"/>
                        </a:rPr>
                        <a:t>0.818</a:t>
                      </a:r>
                    </a:p>
                  </a:txBody>
                  <a:tcPr marL="91440" marR="91440" anchor="ctr">
                    <a:solidFill>
                      <a:srgbClr val="141A2E"/>
                    </a:solidFill>
                  </a:tcPr>
                </a:tc>
                <a:tc>
                  <a:txBody>
                    <a:bodyPr/>
                    <a:lstStyle/>
                    <a:p>
                      <a:pPr algn="ctr"/>
                      <a:r>
                        <a:rPr sz="1500" b="0">
                          <a:solidFill>
                            <a:srgbClr val="E8ECF5"/>
                          </a:solidFill>
                          <a:latin typeface="Calibri"/>
                        </a:rPr>
                        <a:t>0.409</a:t>
                      </a:r>
                    </a:p>
                  </a:txBody>
                  <a:tcPr marL="91440" marR="91440" anchor="ctr">
                    <a:solidFill>
                      <a:srgbClr val="141A2E"/>
                    </a:solidFill>
                  </a:tcPr>
                </a:tc>
                <a:tc>
                  <a:txBody>
                    <a:bodyPr/>
                    <a:lstStyle/>
                    <a:p>
                      <a:pPr algn="ctr"/>
                      <a:r>
                        <a:rPr sz="1500" b="0">
                          <a:solidFill>
                            <a:srgbClr val="E8ECF5"/>
                          </a:solidFill>
                          <a:latin typeface="Calibri"/>
                        </a:rPr>
                        <a:t>0.545</a:t>
                      </a:r>
                    </a:p>
                  </a:txBody>
                  <a:tcPr marL="91440" marR="91440" anchor="ctr">
                    <a:solidFill>
                      <a:srgbClr val="141A2E"/>
                    </a:solidFill>
                  </a:tcPr>
                </a:tc>
                <a:tc>
                  <a:txBody>
                    <a:bodyPr/>
                    <a:lstStyle/>
                    <a:p>
                      <a:pPr algn="ctr"/>
                      <a:r>
                        <a:rPr sz="1500" b="0">
                          <a:solidFill>
                            <a:srgbClr val="E8ECF5"/>
                          </a:solidFill>
                          <a:latin typeface="Calibri"/>
                        </a:rPr>
                        <a:t>0.810</a:t>
                      </a:r>
                    </a:p>
                  </a:txBody>
                  <a:tcPr marL="91440" marR="91440" anchor="ctr">
                    <a:solidFill>
                      <a:srgbClr val="141A2E"/>
                    </a:solidFill>
                  </a:tcPr>
                </a:tc>
              </a:tr>
              <a:tr h="525780">
                <a:tc>
                  <a:txBody>
                    <a:bodyPr/>
                    <a:lstStyle/>
                    <a:p>
                      <a:pPr algn="l"/>
                      <a:r>
                        <a:rPr sz="1500" b="1">
                          <a:solidFill>
                            <a:srgbClr val="E8ECF5"/>
                          </a:solidFill>
                          <a:latin typeface="Calibri"/>
                        </a:rPr>
                        <a:t>Gradient Boosting</a:t>
                      </a:r>
                    </a:p>
                  </a:txBody>
                  <a:tcPr marL="91440" marR="91440" anchor="ctr">
                    <a:solidFill>
                      <a:srgbClr val="1B2340"/>
                    </a:solidFill>
                  </a:tcPr>
                </a:tc>
                <a:tc>
                  <a:txBody>
                    <a:bodyPr/>
                    <a:lstStyle/>
                    <a:p>
                      <a:pPr algn="ctr"/>
                      <a:r>
                        <a:rPr sz="1500" b="1">
                          <a:solidFill>
                            <a:srgbClr val="E8ECF5"/>
                          </a:solidFill>
                          <a:latin typeface="Calibri"/>
                        </a:rPr>
                        <a:t>0.900</a:t>
                      </a:r>
                    </a:p>
                  </a:txBody>
                  <a:tcPr marL="91440" marR="91440" anchor="ctr">
                    <a:solidFill>
                      <a:srgbClr val="1B2340"/>
                    </a:solidFill>
                  </a:tcPr>
                </a:tc>
                <a:tc>
                  <a:txBody>
                    <a:bodyPr/>
                    <a:lstStyle/>
                    <a:p>
                      <a:pPr algn="ctr"/>
                      <a:r>
                        <a:rPr sz="1500" b="1">
                          <a:solidFill>
                            <a:srgbClr val="E8ECF5"/>
                          </a:solidFill>
                          <a:latin typeface="Calibri"/>
                        </a:rPr>
                        <a:t>0.929</a:t>
                      </a:r>
                    </a:p>
                  </a:txBody>
                  <a:tcPr marL="91440" marR="91440" anchor="ctr">
                    <a:solidFill>
                      <a:srgbClr val="1B2340"/>
                    </a:solidFill>
                  </a:tcPr>
                </a:tc>
                <a:tc>
                  <a:txBody>
                    <a:bodyPr/>
                    <a:lstStyle/>
                    <a:p>
                      <a:pPr algn="ctr"/>
                      <a:r>
                        <a:rPr sz="1500" b="1">
                          <a:solidFill>
                            <a:srgbClr val="E8ECF5"/>
                          </a:solidFill>
                          <a:latin typeface="Calibri"/>
                        </a:rPr>
                        <a:t>0.591</a:t>
                      </a:r>
                    </a:p>
                  </a:txBody>
                  <a:tcPr marL="91440" marR="91440" anchor="ctr">
                    <a:solidFill>
                      <a:srgbClr val="1B2340"/>
                    </a:solidFill>
                  </a:tcPr>
                </a:tc>
                <a:tc>
                  <a:txBody>
                    <a:bodyPr/>
                    <a:lstStyle/>
                    <a:p>
                      <a:pPr algn="ctr"/>
                      <a:r>
                        <a:rPr sz="1500" b="1">
                          <a:solidFill>
                            <a:srgbClr val="E8ECF5"/>
                          </a:solidFill>
                          <a:latin typeface="Calibri"/>
                        </a:rPr>
                        <a:t>0.722</a:t>
                      </a:r>
                    </a:p>
                  </a:txBody>
                  <a:tcPr marL="91440" marR="91440" anchor="ctr">
                    <a:solidFill>
                      <a:srgbClr val="1B2340"/>
                    </a:solidFill>
                  </a:tcPr>
                </a:tc>
                <a:tc>
                  <a:txBody>
                    <a:bodyPr/>
                    <a:lstStyle/>
                    <a:p>
                      <a:pPr algn="ctr"/>
                      <a:r>
                        <a:rPr sz="1500" b="1">
                          <a:solidFill>
                            <a:srgbClr val="E8ECF5"/>
                          </a:solidFill>
                          <a:latin typeface="Calibri"/>
                        </a:rPr>
                        <a:t>0.805</a:t>
                      </a:r>
                    </a:p>
                  </a:txBody>
                  <a:tcPr marL="91440" marR="91440" anchor="ctr">
                    <a:solidFill>
                      <a:srgbClr val="1B2340"/>
                    </a:solidFill>
                  </a:tcPr>
                </a:tc>
              </a:tr>
            </a:tbl>
          </a:graphicData>
        </a:graphic>
      </p:graphicFrame>
      <p:sp>
        <p:nvSpPr>
          <p:cNvPr id="8" name="Rounded Rectangle 7"/>
          <p:cNvSpPr/>
          <p:nvPr/>
        </p:nvSpPr>
        <p:spPr>
          <a:xfrm>
            <a:off x="548640" y="4251960"/>
            <a:ext cx="5394960" cy="182880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4251960"/>
            <a:ext cx="5175504"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389120"/>
            <a:ext cx="4937760" cy="320040"/>
          </a:xfrm>
          <a:prstGeom prst="rect">
            <a:avLst/>
          </a:prstGeom>
          <a:noFill/>
        </p:spPr>
        <p:txBody>
          <a:bodyPr wrap="square" lIns="36576" rIns="36576" tIns="18288" bIns="18288" anchor="t">
            <a:spAutoFit/>
          </a:bodyPr>
          <a:lstStyle/>
          <a:p>
            <a:pPr algn="l">
              <a:lnSpc>
                <a:spcPct val="105000"/>
              </a:lnSpc>
            </a:pPr>
            <a:r>
              <a:rPr sz="1400" b="1" i="0">
                <a:solidFill>
                  <a:srgbClr val="00D4AA"/>
                </a:solidFill>
                <a:latin typeface="Calibri"/>
              </a:rPr>
              <a:t>Why Gradient Boosting</a:t>
            </a:r>
          </a:p>
        </p:txBody>
      </p:sp>
      <p:sp>
        <p:nvSpPr>
          <p:cNvPr id="11" name="TextBox 10"/>
          <p:cNvSpPr txBox="1"/>
          <p:nvPr/>
        </p:nvSpPr>
        <p:spPr>
          <a:xfrm>
            <a:off x="777240" y="4754880"/>
            <a:ext cx="4937760" cy="1280160"/>
          </a:xfrm>
          <a:prstGeom prst="rect">
            <a:avLst/>
          </a:prstGeom>
          <a:noFill/>
        </p:spPr>
        <p:txBody>
          <a:bodyPr wrap="square" lIns="36576" rIns="36576" tIns="18288" bIns="18288" anchor="t">
            <a:spAutoFit/>
          </a:bodyPr>
          <a:lstStyle/>
          <a:p>
            <a:pPr algn="l">
              <a:lnSpc>
                <a:spcPct val="105000"/>
              </a:lnSpc>
            </a:pPr>
            <a:r>
              <a:rPr sz="1500" b="0" i="0">
                <a:solidFill>
                  <a:srgbClr val="9AA5BF"/>
                </a:solidFill>
                <a:latin typeface="Calibri"/>
              </a:rPr>
              <a:t>Highest accuracy, precision, recall and F1 on validation; ROC-AUC close to Random Forest.</a:t>
            </a:r>
          </a:p>
        </p:txBody>
      </p:sp>
      <p:sp>
        <p:nvSpPr>
          <p:cNvPr id="12" name="Rounded Rectangle 11"/>
          <p:cNvSpPr/>
          <p:nvPr/>
        </p:nvSpPr>
        <p:spPr>
          <a:xfrm>
            <a:off x="6217920" y="4251960"/>
            <a:ext cx="5394960" cy="182880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327648" y="4251960"/>
            <a:ext cx="5175504"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46520" y="4389120"/>
            <a:ext cx="4937760" cy="320040"/>
          </a:xfrm>
          <a:prstGeom prst="rect">
            <a:avLst/>
          </a:prstGeom>
          <a:noFill/>
        </p:spPr>
        <p:txBody>
          <a:bodyPr wrap="square" lIns="36576" rIns="36576" tIns="18288" bIns="18288" anchor="t">
            <a:spAutoFit/>
          </a:bodyPr>
          <a:lstStyle/>
          <a:p>
            <a:pPr algn="l">
              <a:lnSpc>
                <a:spcPct val="105000"/>
              </a:lnSpc>
            </a:pPr>
            <a:r>
              <a:rPr sz="1400" b="1" i="0">
                <a:solidFill>
                  <a:srgbClr val="8B84FF"/>
                </a:solidFill>
                <a:latin typeface="Calibri"/>
              </a:rPr>
              <a:t>Cross-check (not used to select)</a:t>
            </a:r>
          </a:p>
        </p:txBody>
      </p:sp>
      <p:sp>
        <p:nvSpPr>
          <p:cNvPr id="15" name="TextBox 14"/>
          <p:cNvSpPr txBox="1"/>
          <p:nvPr/>
        </p:nvSpPr>
        <p:spPr>
          <a:xfrm>
            <a:off x="6446520" y="4754880"/>
            <a:ext cx="4937760" cy="1280160"/>
          </a:xfrm>
          <a:prstGeom prst="rect">
            <a:avLst/>
          </a:prstGeom>
          <a:noFill/>
        </p:spPr>
        <p:txBody>
          <a:bodyPr wrap="square" lIns="36576" rIns="36576" tIns="18288" bIns="18288" anchor="t">
            <a:spAutoFit/>
          </a:bodyPr>
          <a:lstStyle/>
          <a:p>
            <a:pPr algn="l">
              <a:lnSpc>
                <a:spcPct val="105000"/>
              </a:lnSpc>
            </a:pPr>
            <a:r>
              <a:rPr sz="1500" b="0" i="0">
                <a:solidFill>
                  <a:srgbClr val="9AA5BF"/>
                </a:solidFill>
                <a:latin typeface="Calibri"/>
              </a:rPr>
              <a:t>5-fold stratified CV on all 500 rows: accuracy 0.926, F1 0.810, ROC-AUC 0.916 at a 0.50 cutoff.</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FINAL EVALUATION</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Held-out TEST results (n = 100, threshold 0.40)</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11</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sp>
        <p:nvSpPr>
          <p:cNvPr id="6" name="Rounded Rectangle 5"/>
          <p:cNvSpPr/>
          <p:nvPr/>
        </p:nvSpPr>
        <p:spPr>
          <a:xfrm>
            <a:off x="548640" y="1371600"/>
            <a:ext cx="2011680" cy="256032"/>
          </a:xfrm>
          <a:prstGeom prst="roundRect">
            <a:avLst>
              <a:gd name="adj" fmla="val 50000"/>
            </a:avLst>
          </a:prstGeom>
          <a:solidFill>
            <a:srgbClr val="0B1020"/>
          </a:solidFill>
          <a:ln w="12700">
            <a:solidFill>
              <a:srgbClr val="00D4AA"/>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100" b="1">
                <a:solidFill>
                  <a:srgbClr val="00D4AA"/>
                </a:solidFill>
                <a:latin typeface="Calibri"/>
              </a:rPr>
              <a:t>TEST SET</a:t>
            </a:r>
          </a:p>
        </p:txBody>
      </p:sp>
      <p:sp>
        <p:nvSpPr>
          <p:cNvPr id="7" name="Rounded Rectangle 6"/>
          <p:cNvSpPr/>
          <p:nvPr/>
        </p:nvSpPr>
        <p:spPr>
          <a:xfrm>
            <a:off x="548640" y="1783080"/>
            <a:ext cx="2103120" cy="1234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58368" y="1783080"/>
            <a:ext cx="1883663"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1947672"/>
            <a:ext cx="1920239" cy="274320"/>
          </a:xfrm>
          <a:prstGeom prst="rect">
            <a:avLst/>
          </a:prstGeom>
          <a:noFill/>
        </p:spPr>
        <p:txBody>
          <a:bodyPr wrap="square" lIns="36576" rIns="36576" tIns="18288" bIns="18288" anchor="t">
            <a:spAutoFit/>
          </a:bodyPr>
          <a:lstStyle/>
          <a:p>
            <a:pPr algn="l">
              <a:lnSpc>
                <a:spcPct val="105000"/>
              </a:lnSpc>
            </a:pPr>
            <a:r>
              <a:rPr sz="1100" b="0" i="0">
                <a:solidFill>
                  <a:srgbClr val="9AA5BF"/>
                </a:solidFill>
                <a:latin typeface="Calibri"/>
              </a:rPr>
              <a:t>Accuracy</a:t>
            </a:r>
          </a:p>
        </p:txBody>
      </p:sp>
      <p:sp>
        <p:nvSpPr>
          <p:cNvPr id="10" name="TextBox 9"/>
          <p:cNvSpPr txBox="1"/>
          <p:nvPr/>
        </p:nvSpPr>
        <p:spPr>
          <a:xfrm>
            <a:off x="640080" y="2240280"/>
            <a:ext cx="1920239" cy="640080"/>
          </a:xfrm>
          <a:prstGeom prst="rect">
            <a:avLst/>
          </a:prstGeom>
          <a:noFill/>
        </p:spPr>
        <p:txBody>
          <a:bodyPr wrap="square" lIns="36576" rIns="36576" tIns="18288" bIns="18288" anchor="t">
            <a:spAutoFit/>
          </a:bodyPr>
          <a:lstStyle/>
          <a:p>
            <a:pPr algn="l">
              <a:lnSpc>
                <a:spcPct val="105000"/>
              </a:lnSpc>
            </a:pPr>
            <a:r>
              <a:rPr sz="3000" b="1" i="0">
                <a:solidFill>
                  <a:srgbClr val="8B84FF"/>
                </a:solidFill>
                <a:latin typeface="Calibri"/>
              </a:rPr>
              <a:t>0.900</a:t>
            </a:r>
          </a:p>
        </p:txBody>
      </p:sp>
      <p:sp>
        <p:nvSpPr>
          <p:cNvPr id="11" name="Rounded Rectangle 10"/>
          <p:cNvSpPr/>
          <p:nvPr/>
        </p:nvSpPr>
        <p:spPr>
          <a:xfrm>
            <a:off x="2788920" y="1783080"/>
            <a:ext cx="2103120" cy="1234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98648" y="1783080"/>
            <a:ext cx="1883663"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880360" y="1947672"/>
            <a:ext cx="1920239" cy="274320"/>
          </a:xfrm>
          <a:prstGeom prst="rect">
            <a:avLst/>
          </a:prstGeom>
          <a:noFill/>
        </p:spPr>
        <p:txBody>
          <a:bodyPr wrap="square" lIns="36576" rIns="36576" tIns="18288" bIns="18288" anchor="t">
            <a:spAutoFit/>
          </a:bodyPr>
          <a:lstStyle/>
          <a:p>
            <a:pPr algn="l">
              <a:lnSpc>
                <a:spcPct val="105000"/>
              </a:lnSpc>
            </a:pPr>
            <a:r>
              <a:rPr sz="1100" b="0" i="0">
                <a:solidFill>
                  <a:srgbClr val="9AA5BF"/>
                </a:solidFill>
                <a:latin typeface="Calibri"/>
              </a:rPr>
              <a:t>Precision</a:t>
            </a:r>
          </a:p>
        </p:txBody>
      </p:sp>
      <p:sp>
        <p:nvSpPr>
          <p:cNvPr id="14" name="TextBox 13"/>
          <p:cNvSpPr txBox="1"/>
          <p:nvPr/>
        </p:nvSpPr>
        <p:spPr>
          <a:xfrm>
            <a:off x="2880360" y="2240280"/>
            <a:ext cx="1920239" cy="640080"/>
          </a:xfrm>
          <a:prstGeom prst="rect">
            <a:avLst/>
          </a:prstGeom>
          <a:noFill/>
        </p:spPr>
        <p:txBody>
          <a:bodyPr wrap="square" lIns="36576" rIns="36576" tIns="18288" bIns="18288" anchor="t">
            <a:spAutoFit/>
          </a:bodyPr>
          <a:lstStyle/>
          <a:p>
            <a:pPr algn="l">
              <a:lnSpc>
                <a:spcPct val="105000"/>
              </a:lnSpc>
            </a:pPr>
            <a:r>
              <a:rPr sz="3000" b="1" i="0">
                <a:solidFill>
                  <a:srgbClr val="00D4AA"/>
                </a:solidFill>
                <a:latin typeface="Calibri"/>
              </a:rPr>
              <a:t>0.800</a:t>
            </a:r>
          </a:p>
        </p:txBody>
      </p:sp>
      <p:sp>
        <p:nvSpPr>
          <p:cNvPr id="15" name="Rounded Rectangle 14"/>
          <p:cNvSpPr/>
          <p:nvPr/>
        </p:nvSpPr>
        <p:spPr>
          <a:xfrm>
            <a:off x="5029200" y="1783080"/>
            <a:ext cx="2103120" cy="1234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138928" y="1783080"/>
            <a:ext cx="1883663" cy="45720"/>
          </a:xfrm>
          <a:prstGeom prst="rect">
            <a:avLst/>
          </a:prstGeom>
          <a:solidFill>
            <a:srgbClr val="FFB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0" y="1947672"/>
            <a:ext cx="1920239" cy="274320"/>
          </a:xfrm>
          <a:prstGeom prst="rect">
            <a:avLst/>
          </a:prstGeom>
          <a:noFill/>
        </p:spPr>
        <p:txBody>
          <a:bodyPr wrap="square" lIns="36576" rIns="36576" tIns="18288" bIns="18288" anchor="t">
            <a:spAutoFit/>
          </a:bodyPr>
          <a:lstStyle/>
          <a:p>
            <a:pPr algn="l">
              <a:lnSpc>
                <a:spcPct val="105000"/>
              </a:lnSpc>
            </a:pPr>
            <a:r>
              <a:rPr sz="1100" b="0" i="0">
                <a:solidFill>
                  <a:srgbClr val="9AA5BF"/>
                </a:solidFill>
                <a:latin typeface="Calibri"/>
              </a:rPr>
              <a:t>Recall</a:t>
            </a:r>
          </a:p>
        </p:txBody>
      </p:sp>
      <p:sp>
        <p:nvSpPr>
          <p:cNvPr id="18" name="TextBox 17"/>
          <p:cNvSpPr txBox="1"/>
          <p:nvPr/>
        </p:nvSpPr>
        <p:spPr>
          <a:xfrm>
            <a:off x="5120640" y="2240280"/>
            <a:ext cx="1920239" cy="640080"/>
          </a:xfrm>
          <a:prstGeom prst="rect">
            <a:avLst/>
          </a:prstGeom>
          <a:noFill/>
        </p:spPr>
        <p:txBody>
          <a:bodyPr wrap="square" lIns="36576" rIns="36576" tIns="18288" bIns="18288" anchor="t">
            <a:spAutoFit/>
          </a:bodyPr>
          <a:lstStyle/>
          <a:p>
            <a:pPr algn="l">
              <a:lnSpc>
                <a:spcPct val="105000"/>
              </a:lnSpc>
            </a:pPr>
            <a:r>
              <a:rPr sz="3000" b="1" i="0">
                <a:solidFill>
                  <a:srgbClr val="FFB347"/>
                </a:solidFill>
                <a:latin typeface="Calibri"/>
              </a:rPr>
              <a:t>0.727</a:t>
            </a:r>
          </a:p>
        </p:txBody>
      </p:sp>
      <p:sp>
        <p:nvSpPr>
          <p:cNvPr id="19" name="Rounded Rectangle 18"/>
          <p:cNvSpPr/>
          <p:nvPr/>
        </p:nvSpPr>
        <p:spPr>
          <a:xfrm>
            <a:off x="7269480" y="1783080"/>
            <a:ext cx="2103120" cy="1234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79208" y="1783080"/>
            <a:ext cx="1883663"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0920" y="1947672"/>
            <a:ext cx="1920239" cy="274320"/>
          </a:xfrm>
          <a:prstGeom prst="rect">
            <a:avLst/>
          </a:prstGeom>
          <a:noFill/>
        </p:spPr>
        <p:txBody>
          <a:bodyPr wrap="square" lIns="36576" rIns="36576" tIns="18288" bIns="18288" anchor="t">
            <a:spAutoFit/>
          </a:bodyPr>
          <a:lstStyle/>
          <a:p>
            <a:pPr algn="l">
              <a:lnSpc>
                <a:spcPct val="105000"/>
              </a:lnSpc>
            </a:pPr>
            <a:r>
              <a:rPr sz="1100" b="0" i="0">
                <a:solidFill>
                  <a:srgbClr val="9AA5BF"/>
                </a:solidFill>
                <a:latin typeface="Calibri"/>
              </a:rPr>
              <a:t>F1 score</a:t>
            </a:r>
          </a:p>
        </p:txBody>
      </p:sp>
      <p:sp>
        <p:nvSpPr>
          <p:cNvPr id="22" name="TextBox 21"/>
          <p:cNvSpPr txBox="1"/>
          <p:nvPr/>
        </p:nvSpPr>
        <p:spPr>
          <a:xfrm>
            <a:off x="7360920" y="2240280"/>
            <a:ext cx="1920239" cy="640080"/>
          </a:xfrm>
          <a:prstGeom prst="rect">
            <a:avLst/>
          </a:prstGeom>
          <a:noFill/>
        </p:spPr>
        <p:txBody>
          <a:bodyPr wrap="square" lIns="36576" rIns="36576" tIns="18288" bIns="18288" anchor="t">
            <a:spAutoFit/>
          </a:bodyPr>
          <a:lstStyle/>
          <a:p>
            <a:pPr algn="l">
              <a:lnSpc>
                <a:spcPct val="105000"/>
              </a:lnSpc>
            </a:pPr>
            <a:r>
              <a:rPr sz="3000" b="1" i="0">
                <a:solidFill>
                  <a:srgbClr val="8B84FF"/>
                </a:solidFill>
                <a:latin typeface="Calibri"/>
              </a:rPr>
              <a:t>0.762</a:t>
            </a:r>
          </a:p>
        </p:txBody>
      </p:sp>
      <p:sp>
        <p:nvSpPr>
          <p:cNvPr id="23" name="Rounded Rectangle 22"/>
          <p:cNvSpPr/>
          <p:nvPr/>
        </p:nvSpPr>
        <p:spPr>
          <a:xfrm>
            <a:off x="9509760" y="1783080"/>
            <a:ext cx="2103120" cy="123444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619488" y="1783080"/>
            <a:ext cx="1883663"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601200" y="1947672"/>
            <a:ext cx="1920239" cy="274320"/>
          </a:xfrm>
          <a:prstGeom prst="rect">
            <a:avLst/>
          </a:prstGeom>
          <a:noFill/>
        </p:spPr>
        <p:txBody>
          <a:bodyPr wrap="square" lIns="36576" rIns="36576" tIns="18288" bIns="18288" anchor="t">
            <a:spAutoFit/>
          </a:bodyPr>
          <a:lstStyle/>
          <a:p>
            <a:pPr algn="l">
              <a:lnSpc>
                <a:spcPct val="105000"/>
              </a:lnSpc>
            </a:pPr>
            <a:r>
              <a:rPr sz="1100" b="0" i="0">
                <a:solidFill>
                  <a:srgbClr val="9AA5BF"/>
                </a:solidFill>
                <a:latin typeface="Calibri"/>
              </a:rPr>
              <a:t>ROC-AUC</a:t>
            </a:r>
          </a:p>
        </p:txBody>
      </p:sp>
      <p:sp>
        <p:nvSpPr>
          <p:cNvPr id="26" name="TextBox 25"/>
          <p:cNvSpPr txBox="1"/>
          <p:nvPr/>
        </p:nvSpPr>
        <p:spPr>
          <a:xfrm>
            <a:off x="9601200" y="2240280"/>
            <a:ext cx="1920239" cy="640080"/>
          </a:xfrm>
          <a:prstGeom prst="rect">
            <a:avLst/>
          </a:prstGeom>
          <a:noFill/>
        </p:spPr>
        <p:txBody>
          <a:bodyPr wrap="square" lIns="36576" rIns="36576" tIns="18288" bIns="18288" anchor="t">
            <a:spAutoFit/>
          </a:bodyPr>
          <a:lstStyle/>
          <a:p>
            <a:pPr algn="l">
              <a:lnSpc>
                <a:spcPct val="105000"/>
              </a:lnSpc>
            </a:pPr>
            <a:r>
              <a:rPr sz="3000" b="1" i="0">
                <a:solidFill>
                  <a:srgbClr val="00D4AA"/>
                </a:solidFill>
                <a:latin typeface="Calibri"/>
              </a:rPr>
              <a:t>0.876</a:t>
            </a:r>
          </a:p>
        </p:txBody>
      </p:sp>
      <p:graphicFrame>
        <p:nvGraphicFramePr>
          <p:cNvPr id="27" name="Table 26"/>
          <p:cNvGraphicFramePr>
            <a:graphicFrameLocks noGrp="1"/>
          </p:cNvGraphicFramePr>
          <p:nvPr/>
        </p:nvGraphicFramePr>
        <p:xfrm>
          <a:off x="548640" y="3429000"/>
          <a:ext cx="5669280" cy="2011680"/>
        </p:xfrm>
        <a:graphic>
          <a:graphicData uri="http://schemas.openxmlformats.org/drawingml/2006/table">
            <a:tbl>
              <a:tblPr firstRow="0" bandRow="0">
                <a:tableStyleId>{2D5ABB26-0587-4C30-8999-92F81FD0307C}</a:tableStyleId>
              </a:tblPr>
              <a:tblGrid>
                <a:gridCol w="2011680"/>
                <a:gridCol w="1828800"/>
                <a:gridCol w="1828800"/>
              </a:tblGrid>
              <a:tr h="670560">
                <a:tc>
                  <a:txBody>
                    <a:bodyPr/>
                    <a:lstStyle/>
                    <a:p>
                      <a:pPr algn="l"/>
                      <a:r>
                        <a:rPr sz="1400" b="1">
                          <a:solidFill>
                            <a:srgbClr val="E8ECF5"/>
                          </a:solidFill>
                          <a:latin typeface="Calibri"/>
                        </a:rPr>
                        <a:t/>
                      </a:r>
                    </a:p>
                  </a:txBody>
                  <a:tcPr marL="91440" marR="91440" anchor="ctr">
                    <a:solidFill>
                      <a:srgbClr val="2E2A9E"/>
                    </a:solidFill>
                  </a:tcPr>
                </a:tc>
                <a:tc>
                  <a:txBody>
                    <a:bodyPr/>
                    <a:lstStyle/>
                    <a:p>
                      <a:pPr algn="ctr"/>
                      <a:r>
                        <a:rPr sz="1400" b="1">
                          <a:solidFill>
                            <a:srgbClr val="E8ECF5"/>
                          </a:solidFill>
                          <a:latin typeface="Calibri"/>
                        </a:rPr>
                        <a:t>Predicted retained</a:t>
                      </a:r>
                    </a:p>
                  </a:txBody>
                  <a:tcPr marL="91440" marR="91440" anchor="ctr">
                    <a:solidFill>
                      <a:srgbClr val="2E2A9E"/>
                    </a:solidFill>
                  </a:tcPr>
                </a:tc>
                <a:tc>
                  <a:txBody>
                    <a:bodyPr/>
                    <a:lstStyle/>
                    <a:p>
                      <a:pPr algn="ctr"/>
                      <a:r>
                        <a:rPr sz="1400" b="1">
                          <a:solidFill>
                            <a:srgbClr val="E8ECF5"/>
                          </a:solidFill>
                          <a:latin typeface="Calibri"/>
                        </a:rPr>
                        <a:t>Predicted churned</a:t>
                      </a:r>
                    </a:p>
                  </a:txBody>
                  <a:tcPr marL="91440" marR="91440" anchor="ctr">
                    <a:solidFill>
                      <a:srgbClr val="2E2A9E"/>
                    </a:solidFill>
                  </a:tcPr>
                </a:tc>
              </a:tr>
              <a:tr h="670560">
                <a:tc>
                  <a:txBody>
                    <a:bodyPr/>
                    <a:lstStyle/>
                    <a:p>
                      <a:pPr algn="l"/>
                      <a:r>
                        <a:rPr sz="1400" b="0">
                          <a:solidFill>
                            <a:srgbClr val="E8ECF5"/>
                          </a:solidFill>
                          <a:latin typeface="Calibri"/>
                        </a:rPr>
                        <a:t>Actual retained</a:t>
                      </a:r>
                    </a:p>
                  </a:txBody>
                  <a:tcPr marL="91440" marR="91440" anchor="ctr">
                    <a:solidFill>
                      <a:srgbClr val="141A2E"/>
                    </a:solidFill>
                  </a:tcPr>
                </a:tc>
                <a:tc>
                  <a:txBody>
                    <a:bodyPr/>
                    <a:lstStyle/>
                    <a:p>
                      <a:pPr algn="ctr"/>
                      <a:r>
                        <a:rPr sz="1400" b="0">
                          <a:solidFill>
                            <a:srgbClr val="E8ECF5"/>
                          </a:solidFill>
                          <a:latin typeface="Calibri"/>
                        </a:rPr>
                        <a:t>74</a:t>
                      </a:r>
                    </a:p>
                  </a:txBody>
                  <a:tcPr marL="91440" marR="91440" anchor="ctr">
                    <a:solidFill>
                      <a:srgbClr val="141A2E"/>
                    </a:solidFill>
                  </a:tcPr>
                </a:tc>
                <a:tc>
                  <a:txBody>
                    <a:bodyPr/>
                    <a:lstStyle/>
                    <a:p>
                      <a:pPr algn="ctr"/>
                      <a:r>
                        <a:rPr sz="1400" b="0">
                          <a:solidFill>
                            <a:srgbClr val="E8ECF5"/>
                          </a:solidFill>
                          <a:latin typeface="Calibri"/>
                        </a:rPr>
                        <a:t>4</a:t>
                      </a:r>
                    </a:p>
                  </a:txBody>
                  <a:tcPr marL="91440" marR="91440" anchor="ctr">
                    <a:solidFill>
                      <a:srgbClr val="141A2E"/>
                    </a:solidFill>
                  </a:tcPr>
                </a:tc>
              </a:tr>
              <a:tr h="670560">
                <a:tc>
                  <a:txBody>
                    <a:bodyPr/>
                    <a:lstStyle/>
                    <a:p>
                      <a:pPr algn="l"/>
                      <a:r>
                        <a:rPr sz="1400" b="0">
                          <a:solidFill>
                            <a:srgbClr val="E8ECF5"/>
                          </a:solidFill>
                          <a:latin typeface="Calibri"/>
                        </a:rPr>
                        <a:t>Actual churned</a:t>
                      </a:r>
                    </a:p>
                  </a:txBody>
                  <a:tcPr marL="91440" marR="91440" anchor="ctr">
                    <a:solidFill>
                      <a:srgbClr val="141A2E"/>
                    </a:solidFill>
                  </a:tcPr>
                </a:tc>
                <a:tc>
                  <a:txBody>
                    <a:bodyPr/>
                    <a:lstStyle/>
                    <a:p>
                      <a:pPr algn="ctr"/>
                      <a:r>
                        <a:rPr sz="1400" b="0">
                          <a:solidFill>
                            <a:srgbClr val="E8ECF5"/>
                          </a:solidFill>
                          <a:latin typeface="Calibri"/>
                        </a:rPr>
                        <a:t>6</a:t>
                      </a:r>
                    </a:p>
                  </a:txBody>
                  <a:tcPr marL="91440" marR="91440" anchor="ctr">
                    <a:solidFill>
                      <a:srgbClr val="141A2E"/>
                    </a:solidFill>
                  </a:tcPr>
                </a:tc>
                <a:tc>
                  <a:txBody>
                    <a:bodyPr/>
                    <a:lstStyle/>
                    <a:p>
                      <a:pPr algn="ctr"/>
                      <a:r>
                        <a:rPr sz="1400" b="0">
                          <a:solidFill>
                            <a:srgbClr val="E8ECF5"/>
                          </a:solidFill>
                          <a:latin typeface="Calibri"/>
                        </a:rPr>
                        <a:t>16</a:t>
                      </a:r>
                    </a:p>
                  </a:txBody>
                  <a:tcPr marL="91440" marR="91440" anchor="ctr">
                    <a:solidFill>
                      <a:srgbClr val="141A2E"/>
                    </a:solidFill>
                  </a:tcPr>
                </a:tc>
              </a:tr>
            </a:tbl>
          </a:graphicData>
        </a:graphic>
      </p:graphicFrame>
      <p:sp>
        <p:nvSpPr>
          <p:cNvPr id="28" name="Rounded Rectangle 27"/>
          <p:cNvSpPr/>
          <p:nvPr/>
        </p:nvSpPr>
        <p:spPr>
          <a:xfrm>
            <a:off x="6492240" y="3429000"/>
            <a:ext cx="5120640" cy="265176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601968" y="3429000"/>
            <a:ext cx="4901183" cy="45720"/>
          </a:xfrm>
          <a:prstGeom prst="rect">
            <a:avLst/>
          </a:prstGeom>
          <a:solidFill>
            <a:srgbClr val="FFB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720840" y="3584448"/>
            <a:ext cx="4663440" cy="320040"/>
          </a:xfrm>
          <a:prstGeom prst="rect">
            <a:avLst/>
          </a:prstGeom>
          <a:noFill/>
        </p:spPr>
        <p:txBody>
          <a:bodyPr wrap="square" lIns="36576" rIns="36576" tIns="18288" bIns="18288" anchor="t">
            <a:spAutoFit/>
          </a:bodyPr>
          <a:lstStyle/>
          <a:p>
            <a:pPr algn="l">
              <a:lnSpc>
                <a:spcPct val="105000"/>
              </a:lnSpc>
            </a:pPr>
            <a:r>
              <a:rPr sz="1400" b="1" i="0">
                <a:solidFill>
                  <a:srgbClr val="FFB347"/>
                </a:solidFill>
                <a:latin typeface="Calibri"/>
              </a:rPr>
              <a:t>How to read it</a:t>
            </a:r>
          </a:p>
        </p:txBody>
      </p:sp>
      <p:sp>
        <p:nvSpPr>
          <p:cNvPr id="31" name="TextBox 30"/>
          <p:cNvSpPr txBox="1"/>
          <p:nvPr/>
        </p:nvSpPr>
        <p:spPr>
          <a:xfrm>
            <a:off x="6720840" y="3977639"/>
            <a:ext cx="4754880" cy="2103120"/>
          </a:xfrm>
          <a:prstGeom prst="rect">
            <a:avLst/>
          </a:prstGeom>
          <a:noFill/>
        </p:spPr>
        <p:txBody>
          <a:bodyPr wrap="square">
            <a:spAutoFit/>
          </a:bodyPr>
          <a:lstStyle/>
          <a:p>
            <a:pPr>
              <a:lnSpc>
                <a:spcPct val="105000"/>
              </a:lnSpc>
              <a:spcAft>
                <a:spcPts val="800"/>
              </a:spcAft>
            </a:pPr>
            <a:r>
              <a:rPr sz="1450">
                <a:solidFill>
                  <a:srgbClr val="00D4AA"/>
                </a:solidFill>
                <a:latin typeface="Calibri"/>
              </a:rPr>
              <a:t>▪  </a:t>
            </a:r>
            <a:r>
              <a:rPr sz="1450" b="0">
                <a:solidFill>
                  <a:srgbClr val="E8ECF5"/>
                </a:solidFill>
                <a:latin typeface="Calibri"/>
              </a:rPr>
              <a:t>16 of 22 churners found; 6 missed</a:t>
            </a:r>
          </a:p>
          <a:p>
            <a:pPr>
              <a:lnSpc>
                <a:spcPct val="105000"/>
              </a:lnSpc>
              <a:spcAft>
                <a:spcPts val="800"/>
              </a:spcAft>
            </a:pPr>
            <a:r>
              <a:rPr sz="1450">
                <a:solidFill>
                  <a:srgbClr val="00D4AA"/>
                </a:solidFill>
                <a:latin typeface="Calibri"/>
              </a:rPr>
              <a:t>▪  </a:t>
            </a:r>
            <a:r>
              <a:rPr sz="1450" b="0">
                <a:solidFill>
                  <a:srgbClr val="E8ECF5"/>
                </a:solidFill>
                <a:latin typeface="Calibri"/>
              </a:rPr>
              <a:t>16 of 20 flagged accounts were real churners</a:t>
            </a:r>
          </a:p>
          <a:p>
            <a:pPr>
              <a:lnSpc>
                <a:spcPct val="105000"/>
              </a:lnSpc>
              <a:spcAft>
                <a:spcPts val="800"/>
              </a:spcAft>
            </a:pPr>
            <a:r>
              <a:rPr sz="1450">
                <a:solidFill>
                  <a:srgbClr val="00D4AA"/>
                </a:solidFill>
                <a:latin typeface="Calibri"/>
              </a:rPr>
              <a:t>▪  </a:t>
            </a:r>
            <a:r>
              <a:rPr sz="1450" b="0">
                <a:solidFill>
                  <a:srgbClr val="E8ECF5"/>
                </a:solidFill>
                <a:latin typeface="Calibri"/>
              </a:rPr>
              <a:t>Only 22 churners: bootstrap 95% interval for recall ≈ 0.52–0.90 (supplementary)</a:t>
            </a:r>
          </a:p>
        </p:txBody>
      </p:sp>
      <p:sp>
        <p:nvSpPr>
          <p:cNvPr id="32" name="TextBox 31"/>
          <p:cNvSpPr txBox="1"/>
          <p:nvPr/>
        </p:nvSpPr>
        <p:spPr>
          <a:xfrm>
            <a:off x="548640" y="5577840"/>
            <a:ext cx="5669280" cy="548640"/>
          </a:xfrm>
          <a:prstGeom prst="rect">
            <a:avLst/>
          </a:prstGeom>
          <a:noFill/>
        </p:spPr>
        <p:txBody>
          <a:bodyPr wrap="square" lIns="36576" rIns="36576" tIns="18288" bIns="18288" anchor="t">
            <a:spAutoFit/>
          </a:bodyPr>
          <a:lstStyle/>
          <a:p>
            <a:pPr algn="l">
              <a:lnSpc>
                <a:spcPct val="105000"/>
              </a:lnSpc>
            </a:pPr>
            <a:r>
              <a:rPr sz="1100" b="0" i="1">
                <a:solidFill>
                  <a:srgbClr val="9AA5BF"/>
                </a:solidFill>
                <a:latin typeface="Calibri"/>
              </a:rPr>
              <a:t>Not comparable with the validation table: different accounts and a different threshold.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MODEL DRIVERS</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What the Gradient Boosting model relies on</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12</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pic>
        <p:nvPicPr>
          <p:cNvPr id="6" name="Picture 5" descr="10_importance.png"/>
          <p:cNvPicPr>
            <a:picLocks noChangeAspect="1"/>
          </p:cNvPicPr>
          <p:nvPr/>
        </p:nvPicPr>
        <p:blipFill>
          <a:blip r:embed="rId2"/>
          <a:stretch>
            <a:fillRect/>
          </a:stretch>
        </p:blipFill>
        <p:spPr>
          <a:xfrm>
            <a:off x="548640" y="1417320"/>
            <a:ext cx="6766560" cy="3808869"/>
          </a:xfrm>
          <a:prstGeom prst="rect">
            <a:avLst/>
          </a:prstGeom>
          <a:ln w="12700">
            <a:solidFill>
              <a:srgbClr val="2A3350"/>
            </a:solidFill>
          </a:ln>
        </p:spPr>
      </p:pic>
      <p:sp>
        <p:nvSpPr>
          <p:cNvPr id="7" name="Rounded Rectangle 6"/>
          <p:cNvSpPr/>
          <p:nvPr/>
        </p:nvSpPr>
        <p:spPr>
          <a:xfrm>
            <a:off x="7589520" y="1417320"/>
            <a:ext cx="4023360" cy="457200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699248" y="1417320"/>
            <a:ext cx="3803904"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0" y="1645920"/>
            <a:ext cx="3657600" cy="4206240"/>
          </a:xfrm>
          <a:prstGeom prst="rect">
            <a:avLst/>
          </a:prstGeom>
          <a:noFill/>
        </p:spPr>
        <p:txBody>
          <a:bodyPr wrap="square">
            <a:spAutoFit/>
          </a:bodyPr>
          <a:lstStyle/>
          <a:p>
            <a:pPr>
              <a:lnSpc>
                <a:spcPct val="105000"/>
              </a:lnSpc>
              <a:spcAft>
                <a:spcPts val="1200"/>
              </a:spcAft>
            </a:pPr>
            <a:r>
              <a:rPr sz="1500">
                <a:solidFill>
                  <a:srgbClr val="00D4AA"/>
                </a:solidFill>
                <a:latin typeface="Calibri"/>
              </a:rPr>
              <a:t>▪  </a:t>
            </a:r>
            <a:r>
              <a:rPr sz="1500" b="1">
                <a:solidFill>
                  <a:srgbClr val="E8ECF5"/>
                </a:solidFill>
                <a:latin typeface="Calibri"/>
              </a:rPr>
              <a:t>Avg MRR 52.8%</a:t>
            </a:r>
            <a:r>
              <a:rPr sz="1500" b="0">
                <a:solidFill>
                  <a:srgbClr val="E8ECF5"/>
                </a:solidFill>
                <a:latin typeface="Calibri"/>
              </a:rPr>
              <a:t>, Auto Renew 15.2%, Tenure 14.6% - together 82.6%</a:t>
            </a:r>
          </a:p>
          <a:p>
            <a:pPr>
              <a:lnSpc>
                <a:spcPct val="105000"/>
              </a:lnSpc>
              <a:spcAft>
                <a:spcPts val="1200"/>
              </a:spcAft>
            </a:pPr>
            <a:r>
              <a:rPr sz="1500">
                <a:solidFill>
                  <a:srgbClr val="00D4AA"/>
                </a:solidFill>
                <a:latin typeface="Calibri"/>
              </a:rPr>
              <a:t>▪  </a:t>
            </a:r>
            <a:r>
              <a:rPr sz="1500" b="0">
                <a:solidFill>
                  <a:srgbClr val="E8ECF5"/>
                </a:solidFill>
                <a:latin typeface="Calibri"/>
              </a:rPr>
              <a:t>Importance shows what the trees split on, </a:t>
            </a:r>
            <a:r>
              <a:rPr sz="1500" b="1">
                <a:solidFill>
                  <a:srgbClr val="E8ECF5"/>
                </a:solidFill>
                <a:latin typeface="Calibri"/>
              </a:rPr>
              <a:t>not what causes churn</a:t>
            </a:r>
          </a:p>
          <a:p>
            <a:pPr>
              <a:lnSpc>
                <a:spcPct val="105000"/>
              </a:lnSpc>
              <a:spcAft>
                <a:spcPts val="1200"/>
              </a:spcAft>
            </a:pPr>
            <a:r>
              <a:rPr sz="1500">
                <a:solidFill>
                  <a:srgbClr val="00D4AA"/>
                </a:solidFill>
                <a:latin typeface="Calibri"/>
              </a:rPr>
              <a:t>▪  </a:t>
            </a:r>
            <a:r>
              <a:rPr sz="1500" b="0">
                <a:solidFill>
                  <a:srgbClr val="E8ECF5"/>
                </a:solidFill>
                <a:latin typeface="Calibri"/>
              </a:rPr>
              <a:t>Caution: avg MRR is missing for 62 of 110 churned accounts and 0 of 390 retained - part of its importance may reflect that pattern (next slides)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PREDICTION &amp; RISK TAB</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Per-account churn probability and risk band</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13</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pic>
        <p:nvPicPr>
          <p:cNvPr id="6" name="Picture 5" descr="11_pred_high.png"/>
          <p:cNvPicPr>
            <a:picLocks noChangeAspect="1"/>
          </p:cNvPicPr>
          <p:nvPr/>
        </p:nvPicPr>
        <p:blipFill>
          <a:blip r:embed="rId2"/>
          <a:stretch>
            <a:fillRect/>
          </a:stretch>
        </p:blipFill>
        <p:spPr>
          <a:xfrm>
            <a:off x="548640" y="1417320"/>
            <a:ext cx="5486400" cy="3358913"/>
          </a:xfrm>
          <a:prstGeom prst="rect">
            <a:avLst/>
          </a:prstGeom>
          <a:ln w="12700">
            <a:solidFill>
              <a:srgbClr val="2A3350"/>
            </a:solidFill>
          </a:ln>
        </p:spPr>
      </p:pic>
      <p:pic>
        <p:nvPicPr>
          <p:cNvPr id="7" name="Picture 6" descr="12_pred_low.png"/>
          <p:cNvPicPr>
            <a:picLocks noChangeAspect="1"/>
          </p:cNvPicPr>
          <p:nvPr/>
        </p:nvPicPr>
        <p:blipFill>
          <a:blip r:embed="rId3"/>
          <a:stretch>
            <a:fillRect/>
          </a:stretch>
        </p:blipFill>
        <p:spPr>
          <a:xfrm>
            <a:off x="6217920" y="1417320"/>
            <a:ext cx="5486400" cy="3358913"/>
          </a:xfrm>
          <a:prstGeom prst="rect">
            <a:avLst/>
          </a:prstGeom>
          <a:ln w="12700">
            <a:solidFill>
              <a:srgbClr val="2A3350"/>
            </a:solidFill>
          </a:ln>
        </p:spPr>
      </p:pic>
      <p:sp>
        <p:nvSpPr>
          <p:cNvPr id="8" name="Rounded Rectangle 7"/>
          <p:cNvSpPr/>
          <p:nvPr/>
        </p:nvSpPr>
        <p:spPr>
          <a:xfrm>
            <a:off x="548640" y="5029200"/>
            <a:ext cx="1783080" cy="86868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58368" y="5029200"/>
            <a:ext cx="1563624" cy="4572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5138928"/>
            <a:ext cx="1600200" cy="274320"/>
          </a:xfrm>
          <a:prstGeom prst="rect">
            <a:avLst/>
          </a:prstGeom>
          <a:noFill/>
        </p:spPr>
        <p:txBody>
          <a:bodyPr wrap="square" lIns="36576" rIns="36576" tIns="18288" bIns="18288" anchor="t">
            <a:spAutoFit/>
          </a:bodyPr>
          <a:lstStyle/>
          <a:p>
            <a:pPr algn="l">
              <a:lnSpc>
                <a:spcPct val="105000"/>
              </a:lnSpc>
            </a:pPr>
            <a:r>
              <a:rPr sz="1300" b="1" i="0">
                <a:solidFill>
                  <a:srgbClr val="FF6B6B"/>
                </a:solidFill>
                <a:latin typeface="Calibri"/>
              </a:rPr>
              <a:t>HIGH</a:t>
            </a:r>
          </a:p>
        </p:txBody>
      </p:sp>
      <p:sp>
        <p:nvSpPr>
          <p:cNvPr id="11" name="TextBox 10"/>
          <p:cNvSpPr txBox="1"/>
          <p:nvPr/>
        </p:nvSpPr>
        <p:spPr>
          <a:xfrm>
            <a:off x="640080" y="5440680"/>
            <a:ext cx="1645920" cy="411480"/>
          </a:xfrm>
          <a:prstGeom prst="rect">
            <a:avLst/>
          </a:prstGeom>
          <a:noFill/>
        </p:spPr>
        <p:txBody>
          <a:bodyPr wrap="square" lIns="36576" rIns="36576" tIns="18288" bIns="18288" anchor="t">
            <a:spAutoFit/>
          </a:bodyPr>
          <a:lstStyle/>
          <a:p>
            <a:pPr algn="l">
              <a:lnSpc>
                <a:spcPct val="105000"/>
              </a:lnSpc>
            </a:pPr>
            <a:r>
              <a:rPr sz="1050" b="0" i="0">
                <a:solidFill>
                  <a:srgbClr val="9AA5BF"/>
                </a:solidFill>
                <a:latin typeface="Calibri"/>
              </a:rPr>
              <a:t>probability ≥ 0.60</a:t>
            </a:r>
          </a:p>
        </p:txBody>
      </p:sp>
      <p:sp>
        <p:nvSpPr>
          <p:cNvPr id="12" name="Rounded Rectangle 11"/>
          <p:cNvSpPr/>
          <p:nvPr/>
        </p:nvSpPr>
        <p:spPr>
          <a:xfrm>
            <a:off x="2468880" y="5029200"/>
            <a:ext cx="1783080" cy="86868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578608" y="5029200"/>
            <a:ext cx="1563624" cy="45720"/>
          </a:xfrm>
          <a:prstGeom prst="rect">
            <a:avLst/>
          </a:prstGeom>
          <a:solidFill>
            <a:srgbClr val="FFB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560320" y="5138928"/>
            <a:ext cx="1600200" cy="274320"/>
          </a:xfrm>
          <a:prstGeom prst="rect">
            <a:avLst/>
          </a:prstGeom>
          <a:noFill/>
        </p:spPr>
        <p:txBody>
          <a:bodyPr wrap="square" lIns="36576" rIns="36576" tIns="18288" bIns="18288" anchor="t">
            <a:spAutoFit/>
          </a:bodyPr>
          <a:lstStyle/>
          <a:p>
            <a:pPr algn="l">
              <a:lnSpc>
                <a:spcPct val="105000"/>
              </a:lnSpc>
            </a:pPr>
            <a:r>
              <a:rPr sz="1300" b="1" i="0">
                <a:solidFill>
                  <a:srgbClr val="FFB347"/>
                </a:solidFill>
                <a:latin typeface="Calibri"/>
              </a:rPr>
              <a:t>MEDIUM</a:t>
            </a:r>
          </a:p>
        </p:txBody>
      </p:sp>
      <p:sp>
        <p:nvSpPr>
          <p:cNvPr id="15" name="TextBox 14"/>
          <p:cNvSpPr txBox="1"/>
          <p:nvPr/>
        </p:nvSpPr>
        <p:spPr>
          <a:xfrm>
            <a:off x="2560320" y="5440680"/>
            <a:ext cx="1645920" cy="411480"/>
          </a:xfrm>
          <a:prstGeom prst="rect">
            <a:avLst/>
          </a:prstGeom>
          <a:noFill/>
        </p:spPr>
        <p:txBody>
          <a:bodyPr wrap="square" lIns="36576" rIns="36576" tIns="18288" bIns="18288" anchor="t">
            <a:spAutoFit/>
          </a:bodyPr>
          <a:lstStyle/>
          <a:p>
            <a:pPr algn="l">
              <a:lnSpc>
                <a:spcPct val="105000"/>
              </a:lnSpc>
            </a:pPr>
            <a:r>
              <a:rPr sz="1050" b="0" i="0">
                <a:solidFill>
                  <a:srgbClr val="9AA5BF"/>
                </a:solidFill>
                <a:latin typeface="Calibri"/>
              </a:rPr>
              <a:t>0.40 ≤ probability &lt; 0.60</a:t>
            </a:r>
          </a:p>
        </p:txBody>
      </p:sp>
      <p:sp>
        <p:nvSpPr>
          <p:cNvPr id="16" name="Rounded Rectangle 15"/>
          <p:cNvSpPr/>
          <p:nvPr/>
        </p:nvSpPr>
        <p:spPr>
          <a:xfrm>
            <a:off x="4389120" y="5029200"/>
            <a:ext cx="1783080" cy="86868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498848" y="5029200"/>
            <a:ext cx="1563624"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480559" y="5138928"/>
            <a:ext cx="1600200" cy="274320"/>
          </a:xfrm>
          <a:prstGeom prst="rect">
            <a:avLst/>
          </a:prstGeom>
          <a:noFill/>
        </p:spPr>
        <p:txBody>
          <a:bodyPr wrap="square" lIns="36576" rIns="36576" tIns="18288" bIns="18288" anchor="t">
            <a:spAutoFit/>
          </a:bodyPr>
          <a:lstStyle/>
          <a:p>
            <a:pPr algn="l">
              <a:lnSpc>
                <a:spcPct val="105000"/>
              </a:lnSpc>
            </a:pPr>
            <a:r>
              <a:rPr sz="1300" b="1" i="0">
                <a:solidFill>
                  <a:srgbClr val="00D4AA"/>
                </a:solidFill>
                <a:latin typeface="Calibri"/>
              </a:rPr>
              <a:t>LOW</a:t>
            </a:r>
          </a:p>
        </p:txBody>
      </p:sp>
      <p:sp>
        <p:nvSpPr>
          <p:cNvPr id="19" name="TextBox 18"/>
          <p:cNvSpPr txBox="1"/>
          <p:nvPr/>
        </p:nvSpPr>
        <p:spPr>
          <a:xfrm>
            <a:off x="4480559" y="5440680"/>
            <a:ext cx="1645920" cy="411480"/>
          </a:xfrm>
          <a:prstGeom prst="rect">
            <a:avLst/>
          </a:prstGeom>
          <a:noFill/>
        </p:spPr>
        <p:txBody>
          <a:bodyPr wrap="square" lIns="36576" rIns="36576" tIns="18288" bIns="18288" anchor="t">
            <a:spAutoFit/>
          </a:bodyPr>
          <a:lstStyle/>
          <a:p>
            <a:pPr algn="l">
              <a:lnSpc>
                <a:spcPct val="105000"/>
              </a:lnSpc>
            </a:pPr>
            <a:r>
              <a:rPr sz="1050" b="0" i="0">
                <a:solidFill>
                  <a:srgbClr val="9AA5BF"/>
                </a:solidFill>
                <a:latin typeface="Calibri"/>
              </a:rPr>
              <a:t>probability &lt; 0.40</a:t>
            </a:r>
          </a:p>
        </p:txBody>
      </p:sp>
      <p:sp>
        <p:nvSpPr>
          <p:cNvPr id="20" name="Rounded Rectangle 19"/>
          <p:cNvSpPr/>
          <p:nvPr/>
        </p:nvSpPr>
        <p:spPr>
          <a:xfrm>
            <a:off x="6309360" y="5029200"/>
            <a:ext cx="5303520" cy="109728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419088" y="5029200"/>
            <a:ext cx="5084064" cy="4572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5138928"/>
            <a:ext cx="4937760" cy="914400"/>
          </a:xfrm>
          <a:prstGeom prst="rect">
            <a:avLst/>
          </a:prstGeom>
          <a:noFill/>
        </p:spPr>
        <p:txBody>
          <a:bodyPr wrap="square" lIns="36576" rIns="36576" tIns="18288" bIns="18288" anchor="t">
            <a:spAutoFit/>
          </a:bodyPr>
          <a:lstStyle/>
          <a:p>
            <a:pPr algn="l">
              <a:lnSpc>
                <a:spcPct val="105000"/>
              </a:lnSpc>
            </a:pPr>
            <a:r>
              <a:rPr sz="1150" b="0" i="0">
                <a:solidFill>
                  <a:srgbClr val="9AA5BF"/>
                </a:solidFill>
                <a:latin typeface="Calibri"/>
              </a:rPr>
              <a:t>Illustrative lookups only: the tab scores whole-history features from account_data.csv, which differ from the training windows, and ~60% of accounts were training rows.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LIMITATIONS</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What the numbers do and do not show</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14</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sp>
        <p:nvSpPr>
          <p:cNvPr id="6" name="Rounded Rectangle 5"/>
          <p:cNvSpPr/>
          <p:nvPr/>
        </p:nvSpPr>
        <p:spPr>
          <a:xfrm>
            <a:off x="548640" y="1371600"/>
            <a:ext cx="5440680" cy="219456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371600"/>
            <a:ext cx="5221224" cy="45720"/>
          </a:xfrm>
          <a:prstGeom prst="rect">
            <a:avLst/>
          </a:prstGeom>
          <a:solidFill>
            <a:srgbClr val="FFB3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54480"/>
            <a:ext cx="5029200" cy="365760"/>
          </a:xfrm>
          <a:prstGeom prst="rect">
            <a:avLst/>
          </a:prstGeom>
          <a:noFill/>
        </p:spPr>
        <p:txBody>
          <a:bodyPr wrap="square" lIns="36576" rIns="36576" tIns="18288" bIns="18288" anchor="t">
            <a:spAutoFit/>
          </a:bodyPr>
          <a:lstStyle/>
          <a:p>
            <a:pPr algn="l">
              <a:lnSpc>
                <a:spcPct val="105000"/>
              </a:lnSpc>
            </a:pPr>
            <a:r>
              <a:rPr sz="1600" b="1" i="0">
                <a:solidFill>
                  <a:srgbClr val="FFB347"/>
                </a:solidFill>
                <a:latin typeface="Calibri"/>
              </a:rPr>
              <a:t>Small test set</a:t>
            </a:r>
          </a:p>
        </p:txBody>
      </p:sp>
      <p:sp>
        <p:nvSpPr>
          <p:cNvPr id="9" name="TextBox 8"/>
          <p:cNvSpPr txBox="1"/>
          <p:nvPr/>
        </p:nvSpPr>
        <p:spPr>
          <a:xfrm>
            <a:off x="731520" y="1993392"/>
            <a:ext cx="5074920" cy="1600200"/>
          </a:xfrm>
          <a:prstGeom prst="rect">
            <a:avLst/>
          </a:prstGeom>
          <a:noFill/>
        </p:spPr>
        <p:txBody>
          <a:bodyPr wrap="square" lIns="36576" rIns="36576" tIns="18288" bIns="18288" anchor="t">
            <a:spAutoFit/>
          </a:bodyPr>
          <a:lstStyle/>
          <a:p>
            <a:pPr algn="l">
              <a:lnSpc>
                <a:spcPct val="105000"/>
              </a:lnSpc>
            </a:pPr>
            <a:r>
              <a:rPr sz="1550" b="0" i="0">
                <a:solidFill>
                  <a:srgbClr val="E8ECF5"/>
                </a:solidFill>
                <a:latin typeface="Calibri"/>
              </a:rPr>
              <a:t>22 churners in 100 accounts. One account moves recall ~4.5 points; intervals are wide.</a:t>
            </a:r>
          </a:p>
        </p:txBody>
      </p:sp>
      <p:sp>
        <p:nvSpPr>
          <p:cNvPr id="10" name="Rounded Rectangle 9"/>
          <p:cNvSpPr/>
          <p:nvPr/>
        </p:nvSpPr>
        <p:spPr>
          <a:xfrm>
            <a:off x="6126479" y="1371600"/>
            <a:ext cx="5440680" cy="219456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36207" y="1371600"/>
            <a:ext cx="5221224" cy="45720"/>
          </a:xfrm>
          <a:prstGeom prst="rect">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59" y="1554480"/>
            <a:ext cx="5029200" cy="365760"/>
          </a:xfrm>
          <a:prstGeom prst="rect">
            <a:avLst/>
          </a:prstGeom>
          <a:noFill/>
        </p:spPr>
        <p:txBody>
          <a:bodyPr wrap="square" lIns="36576" rIns="36576" tIns="18288" bIns="18288" anchor="t">
            <a:spAutoFit/>
          </a:bodyPr>
          <a:lstStyle/>
          <a:p>
            <a:pPr algn="l">
              <a:lnSpc>
                <a:spcPct val="105000"/>
              </a:lnSpc>
            </a:pPr>
            <a:r>
              <a:rPr sz="1600" b="1" i="0">
                <a:solidFill>
                  <a:srgbClr val="FF6B6B"/>
                </a:solidFill>
                <a:latin typeface="Calibri"/>
              </a:rPr>
              <a:t>Missing features are informative</a:t>
            </a:r>
          </a:p>
        </p:txBody>
      </p:sp>
      <p:sp>
        <p:nvSpPr>
          <p:cNvPr id="13" name="TextBox 12"/>
          <p:cNvSpPr txBox="1"/>
          <p:nvPr/>
        </p:nvSpPr>
        <p:spPr>
          <a:xfrm>
            <a:off x="6309359" y="1993392"/>
            <a:ext cx="5074920" cy="1600200"/>
          </a:xfrm>
          <a:prstGeom prst="rect">
            <a:avLst/>
          </a:prstGeom>
          <a:noFill/>
        </p:spPr>
        <p:txBody>
          <a:bodyPr wrap="square" lIns="36576" rIns="36576" tIns="18288" bIns="18288" anchor="t">
            <a:spAutoFit/>
          </a:bodyPr>
          <a:lstStyle/>
          <a:p>
            <a:pPr algn="l">
              <a:lnSpc>
                <a:spcPct val="105000"/>
              </a:lnSpc>
            </a:pPr>
            <a:r>
              <a:rPr sz="1550" b="0" i="0">
                <a:solidFill>
                  <a:srgbClr val="E8ECF5"/>
                </a:solidFill>
                <a:latin typeface="Calibri"/>
              </a:rPr>
              <a:t>11 of 22 test churners have no avg MRR (no churn event → no prediction date). A rule 'avg MRR missing → churn' alone scores precision 1.0, recall 0.50. On the 89 test accounts with real values: AUC ≈ 0.76, recall ≈ 0.45.</a:t>
            </a:r>
          </a:p>
        </p:txBody>
      </p:sp>
      <p:sp>
        <p:nvSpPr>
          <p:cNvPr id="14" name="Rounded Rectangle 13"/>
          <p:cNvSpPr/>
          <p:nvPr/>
        </p:nvSpPr>
        <p:spPr>
          <a:xfrm>
            <a:off x="548640" y="3703320"/>
            <a:ext cx="5440680" cy="219456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58368" y="3703320"/>
            <a:ext cx="5221224"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3886200"/>
            <a:ext cx="5029200" cy="365760"/>
          </a:xfrm>
          <a:prstGeom prst="rect">
            <a:avLst/>
          </a:prstGeom>
          <a:noFill/>
        </p:spPr>
        <p:txBody>
          <a:bodyPr wrap="square" lIns="36576" rIns="36576" tIns="18288" bIns="18288" anchor="t">
            <a:spAutoFit/>
          </a:bodyPr>
          <a:lstStyle/>
          <a:p>
            <a:pPr algn="l">
              <a:lnSpc>
                <a:spcPct val="105000"/>
              </a:lnSpc>
            </a:pPr>
            <a:r>
              <a:rPr sz="1600" b="1" i="0">
                <a:solidFill>
                  <a:srgbClr val="8B84FF"/>
                </a:solidFill>
                <a:latin typeface="Calibri"/>
              </a:rPr>
              <a:t>Dashboard scoring mismatch</a:t>
            </a:r>
          </a:p>
        </p:txBody>
      </p:sp>
      <p:sp>
        <p:nvSpPr>
          <p:cNvPr id="17" name="TextBox 16"/>
          <p:cNvSpPr txBox="1"/>
          <p:nvPr/>
        </p:nvSpPr>
        <p:spPr>
          <a:xfrm>
            <a:off x="731520" y="4325112"/>
            <a:ext cx="5074920" cy="1600200"/>
          </a:xfrm>
          <a:prstGeom prst="rect">
            <a:avLst/>
          </a:prstGeom>
          <a:noFill/>
        </p:spPr>
        <p:txBody>
          <a:bodyPr wrap="square" lIns="36576" rIns="36576" tIns="18288" bIns="18288" anchor="t">
            <a:spAutoFit/>
          </a:bodyPr>
          <a:lstStyle/>
          <a:p>
            <a:pPr algn="l">
              <a:lnSpc>
                <a:spcPct val="105000"/>
              </a:lnSpc>
            </a:pPr>
            <a:r>
              <a:rPr sz="1550" b="0" i="0">
                <a:solidFill>
                  <a:srgbClr val="E8ECF5"/>
                </a:solidFill>
                <a:latin typeface="Calibri"/>
              </a:rPr>
              <a:t>Prediction tab uses whole-history features; the model was trained on pre-prediction-date windows.</a:t>
            </a:r>
          </a:p>
        </p:txBody>
      </p:sp>
      <p:sp>
        <p:nvSpPr>
          <p:cNvPr id="18" name="Rounded Rectangle 17"/>
          <p:cNvSpPr/>
          <p:nvPr/>
        </p:nvSpPr>
        <p:spPr>
          <a:xfrm>
            <a:off x="6126479" y="3703320"/>
            <a:ext cx="5440680" cy="219456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36207" y="3703320"/>
            <a:ext cx="5221224"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59" y="3886200"/>
            <a:ext cx="5029200" cy="365760"/>
          </a:xfrm>
          <a:prstGeom prst="rect">
            <a:avLst/>
          </a:prstGeom>
          <a:noFill/>
        </p:spPr>
        <p:txBody>
          <a:bodyPr wrap="square" lIns="36576" rIns="36576" tIns="18288" bIns="18288" anchor="t">
            <a:spAutoFit/>
          </a:bodyPr>
          <a:lstStyle/>
          <a:p>
            <a:pPr algn="l">
              <a:lnSpc>
                <a:spcPct val="105000"/>
              </a:lnSpc>
            </a:pPr>
            <a:r>
              <a:rPr sz="1600" b="1" i="0">
                <a:solidFill>
                  <a:srgbClr val="00D4AA"/>
                </a:solidFill>
                <a:latin typeface="Calibri"/>
              </a:rPr>
              <a:t>Data &amp; app caveats</a:t>
            </a:r>
          </a:p>
        </p:txBody>
      </p:sp>
      <p:sp>
        <p:nvSpPr>
          <p:cNvPr id="21" name="TextBox 20"/>
          <p:cNvSpPr txBox="1"/>
          <p:nvPr/>
        </p:nvSpPr>
        <p:spPr>
          <a:xfrm>
            <a:off x="6309359" y="4325112"/>
            <a:ext cx="5074920" cy="1600200"/>
          </a:xfrm>
          <a:prstGeom prst="rect">
            <a:avLst/>
          </a:prstGeom>
          <a:noFill/>
        </p:spPr>
        <p:txBody>
          <a:bodyPr wrap="square" lIns="36576" rIns="36576" tIns="18288" bIns="18288" anchor="t">
            <a:spAutoFit/>
          </a:bodyPr>
          <a:lstStyle/>
          <a:p>
            <a:pPr algn="l">
              <a:lnSpc>
                <a:spcPct val="105000"/>
              </a:lnSpc>
            </a:pPr>
            <a:r>
              <a:rPr sz="1550" b="0" i="0">
                <a:solidFill>
                  <a:srgbClr val="E8ECF5"/>
                </a:solidFill>
                <a:latin typeface="Calibri"/>
              </a:rPr>
              <a:t>Synthetic data; churn_flag derivation not shown; model KPI cards, validation chart and insight text are hard-coded.</a:t>
            </a:r>
          </a:p>
        </p:txBody>
      </p:sp>
      <p:sp>
        <p:nvSpPr>
          <p:cNvPr id="22" name="TextBox 21"/>
          <p:cNvSpPr txBox="1"/>
          <p:nvPr/>
        </p:nvSpPr>
        <p:spPr>
          <a:xfrm>
            <a:off x="548640" y="6108192"/>
            <a:ext cx="10972800" cy="274320"/>
          </a:xfrm>
          <a:prstGeom prst="rect">
            <a:avLst/>
          </a:prstGeom>
          <a:noFill/>
        </p:spPr>
        <p:txBody>
          <a:bodyPr wrap="square" lIns="36576" rIns="36576" tIns="18288" bIns="18288" anchor="t">
            <a:spAutoFit/>
          </a:bodyPr>
          <a:lstStyle/>
          <a:p>
            <a:pPr algn="l">
              <a:lnSpc>
                <a:spcPct val="105000"/>
              </a:lnSpc>
            </a:pPr>
            <a:r>
              <a:rPr sz="1050" b="0" i="1">
                <a:solidFill>
                  <a:srgbClr val="9AA5BF"/>
                </a:solidFill>
                <a:latin typeface="Calibri"/>
              </a:rPr>
              <a:t>Reported test metrics are the project's own results; the supplementary figures come from a reproduction and diagnostics run while documenting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TextBox 1"/>
          <p:cNvSpPr txBox="1"/>
          <p:nvPr/>
        </p:nvSpPr>
        <p:spPr>
          <a:xfrm>
            <a:off x="548640" y="347472"/>
            <a:ext cx="8229600" cy="274320"/>
          </a:xfrm>
          <a:prstGeom prst="rect">
            <a:avLst/>
          </a:prstGeom>
          <a:noFill/>
        </p:spPr>
        <p:txBody>
          <a:bodyPr wrap="square" lIns="36576" rIns="36576" tIns="18288" bIns="18288" anchor="t">
            <a:spAutoFit/>
          </a:bodyPr>
          <a:lstStyle/>
          <a:p>
            <a:pPr algn="l">
              <a:lnSpc>
                <a:spcPct val="105000"/>
              </a:lnSpc>
            </a:pPr>
            <a:r>
              <a:rPr sz="1100" b="1" i="0">
                <a:solidFill>
                  <a:srgbClr val="00D4AA"/>
                </a:solidFill>
                <a:latin typeface="Calibri"/>
              </a:rPr>
              <a:t>SUMMARY</a:t>
            </a:r>
          </a:p>
        </p:txBody>
      </p:sp>
      <p:sp>
        <p:nvSpPr>
          <p:cNvPr id="3" name="TextBox 2"/>
          <p:cNvSpPr txBox="1"/>
          <p:nvPr/>
        </p:nvSpPr>
        <p:spPr>
          <a:xfrm>
            <a:off x="548640" y="603504"/>
            <a:ext cx="11064240" cy="640080"/>
          </a:xfrm>
          <a:prstGeom prst="rect">
            <a:avLst/>
          </a:prstGeom>
          <a:noFill/>
        </p:spPr>
        <p:txBody>
          <a:bodyPr wrap="square" lIns="36576" rIns="36576" tIns="18288" bIns="18288" anchor="t">
            <a:spAutoFit/>
          </a:bodyPr>
          <a:lstStyle/>
          <a:p>
            <a:pPr algn="l">
              <a:lnSpc>
                <a:spcPct val="105000"/>
              </a:lnSpc>
            </a:pPr>
            <a:r>
              <a:rPr sz="2800" b="1" i="0">
                <a:solidFill>
                  <a:srgbClr val="E8ECF5"/>
                </a:solidFill>
                <a:latin typeface="Calibri"/>
              </a:rPr>
              <a:t>Conclusion and next steps</a:t>
            </a:r>
          </a:p>
        </p:txBody>
      </p:sp>
      <p:sp>
        <p:nvSpPr>
          <p:cNvPr id="4" name="TextBox 3"/>
          <p:cNvSpPr txBox="1"/>
          <p:nvPr/>
        </p:nvSpPr>
        <p:spPr>
          <a:xfrm>
            <a:off x="11155680" y="6446520"/>
            <a:ext cx="548640" cy="274320"/>
          </a:xfrm>
          <a:prstGeom prst="rect">
            <a:avLst/>
          </a:prstGeom>
          <a:noFill/>
        </p:spPr>
        <p:txBody>
          <a:bodyPr wrap="square" lIns="36576" rIns="36576" tIns="18288" bIns="18288" anchor="t">
            <a:spAutoFit/>
          </a:bodyPr>
          <a:lstStyle/>
          <a:p>
            <a:pPr algn="r">
              <a:lnSpc>
                <a:spcPct val="105000"/>
              </a:lnSpc>
            </a:pPr>
            <a:r>
              <a:rPr sz="1000" b="0" i="0">
                <a:solidFill>
                  <a:srgbClr val="9AA5BF"/>
                </a:solidFill>
                <a:latin typeface="Calibri"/>
              </a:rPr>
              <a:t>15</a:t>
            </a:r>
          </a:p>
        </p:txBody>
      </p:sp>
      <p:sp>
        <p:nvSpPr>
          <p:cNvPr id="5" name="TextBox 4"/>
          <p:cNvSpPr txBox="1"/>
          <p:nvPr/>
        </p:nvSpPr>
        <p:spPr>
          <a:xfrm>
            <a:off x="548640" y="6446520"/>
            <a:ext cx="7315200" cy="274320"/>
          </a:xfrm>
          <a:prstGeom prst="rect">
            <a:avLst/>
          </a:prstGeom>
          <a:noFill/>
        </p:spPr>
        <p:txBody>
          <a:bodyPr wrap="square" lIns="36576" rIns="36576" tIns="18288" bIns="18288" anchor="t">
            <a:spAutoFit/>
          </a:bodyPr>
          <a:lstStyle/>
          <a:p>
            <a:pPr algn="l">
              <a:lnSpc>
                <a:spcPct val="105000"/>
              </a:lnSpc>
            </a:pPr>
            <a:r>
              <a:rPr sz="1000" b="0" i="0">
                <a:solidFill>
                  <a:srgbClr val="9AA5BF"/>
                </a:solidFill>
                <a:latin typeface="Calibri"/>
              </a:rPr>
              <a:t>SaaS Subscription Churn Prediction  |  Pratham Rangoonwala</a:t>
            </a:r>
          </a:p>
        </p:txBody>
      </p:sp>
      <p:sp>
        <p:nvSpPr>
          <p:cNvPr id="6" name="Rounded Rectangle 5"/>
          <p:cNvSpPr/>
          <p:nvPr/>
        </p:nvSpPr>
        <p:spPr>
          <a:xfrm>
            <a:off x="548640" y="1463040"/>
            <a:ext cx="5577840" cy="457200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63040"/>
            <a:ext cx="5358383" cy="45720"/>
          </a:xfrm>
          <a:prstGeom prst="rect">
            <a:avLst/>
          </a:prstGeom>
          <a:solidFill>
            <a:srgbClr val="00D4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645920"/>
            <a:ext cx="5120640" cy="365760"/>
          </a:xfrm>
          <a:prstGeom prst="rect">
            <a:avLst/>
          </a:prstGeom>
          <a:noFill/>
        </p:spPr>
        <p:txBody>
          <a:bodyPr wrap="square" lIns="36576" rIns="36576" tIns="18288" bIns="18288" anchor="t">
            <a:spAutoFit/>
          </a:bodyPr>
          <a:lstStyle/>
          <a:p>
            <a:pPr algn="l">
              <a:lnSpc>
                <a:spcPct val="105000"/>
              </a:lnSpc>
            </a:pPr>
            <a:r>
              <a:rPr sz="1600" b="1" i="0">
                <a:solidFill>
                  <a:srgbClr val="00D4AA"/>
                </a:solidFill>
                <a:latin typeface="Calibri"/>
              </a:rPr>
              <a:t>What was delivered</a:t>
            </a:r>
          </a:p>
        </p:txBody>
      </p:sp>
      <p:sp>
        <p:nvSpPr>
          <p:cNvPr id="9" name="TextBox 8"/>
          <p:cNvSpPr txBox="1"/>
          <p:nvPr/>
        </p:nvSpPr>
        <p:spPr>
          <a:xfrm>
            <a:off x="777240" y="2103120"/>
            <a:ext cx="5120640" cy="3840480"/>
          </a:xfrm>
          <a:prstGeom prst="rect">
            <a:avLst/>
          </a:prstGeom>
          <a:noFill/>
        </p:spPr>
        <p:txBody>
          <a:bodyPr wrap="square">
            <a:spAutoFit/>
          </a:bodyPr>
          <a:lstStyle/>
          <a:p>
            <a:pPr>
              <a:lnSpc>
                <a:spcPct val="105000"/>
              </a:lnSpc>
              <a:spcAft>
                <a:spcPts val="1400"/>
              </a:spcAft>
            </a:pPr>
            <a:r>
              <a:rPr sz="1700">
                <a:solidFill>
                  <a:srgbClr val="00D4AA"/>
                </a:solidFill>
                <a:latin typeface="Calibri"/>
              </a:rPr>
              <a:t>▪  </a:t>
            </a:r>
            <a:r>
              <a:rPr sz="1700" b="0">
                <a:solidFill>
                  <a:srgbClr val="E8ECF5"/>
                </a:solidFill>
                <a:latin typeface="Calibri"/>
              </a:rPr>
              <a:t>End-to-end pipeline: five tables → account-level data → model → dashboard</a:t>
            </a:r>
          </a:p>
          <a:p>
            <a:pPr>
              <a:lnSpc>
                <a:spcPct val="105000"/>
              </a:lnSpc>
              <a:spcAft>
                <a:spcPts val="1400"/>
              </a:spcAft>
            </a:pPr>
            <a:r>
              <a:rPr sz="1700">
                <a:solidFill>
                  <a:srgbClr val="00D4AA"/>
                </a:solidFill>
                <a:latin typeface="Calibri"/>
              </a:rPr>
              <a:t>▪  </a:t>
            </a:r>
            <a:r>
              <a:rPr sz="1700" b="0">
                <a:solidFill>
                  <a:srgbClr val="E8ECF5"/>
                </a:solidFill>
                <a:latin typeface="Calibri"/>
              </a:rPr>
              <a:t>Plan tier is not associated with churn; DevTools, event referrals, trial accounts and Germany show higher rates</a:t>
            </a:r>
          </a:p>
          <a:p>
            <a:pPr>
              <a:lnSpc>
                <a:spcPct val="105000"/>
              </a:lnSpc>
              <a:spcAft>
                <a:spcPts val="1400"/>
              </a:spcAft>
            </a:pPr>
            <a:r>
              <a:rPr sz="1700">
                <a:solidFill>
                  <a:srgbClr val="00D4AA"/>
                </a:solidFill>
                <a:latin typeface="Calibri"/>
              </a:rPr>
              <a:t>▪  </a:t>
            </a:r>
            <a:r>
              <a:rPr sz="1700" b="0">
                <a:solidFill>
                  <a:srgbClr val="E8ECF5"/>
                </a:solidFill>
                <a:latin typeface="Calibri"/>
              </a:rPr>
              <a:t>Gradient Boosting, threshold 0.40: </a:t>
            </a:r>
            <a:r>
              <a:rPr sz="1700" b="1">
                <a:solidFill>
                  <a:srgbClr val="E8ECF5"/>
                </a:solidFill>
                <a:latin typeface="Calibri"/>
              </a:rPr>
              <a:t>test accuracy 0.900, recall 0.727, ROC-AUC 0.876</a:t>
            </a:r>
            <a:r>
              <a:rPr sz="1700" b="0">
                <a:solidFill>
                  <a:srgbClr val="E8ECF5"/>
                </a:solidFill>
                <a:latin typeface="Calibri"/>
              </a:rPr>
              <a:t> (n = 100)</a:t>
            </a:r>
          </a:p>
        </p:txBody>
      </p:sp>
      <p:sp>
        <p:nvSpPr>
          <p:cNvPr id="10" name="Rounded Rectangle 9"/>
          <p:cNvSpPr/>
          <p:nvPr/>
        </p:nvSpPr>
        <p:spPr>
          <a:xfrm>
            <a:off x="6400800" y="1463040"/>
            <a:ext cx="5212080" cy="4572000"/>
          </a:xfrm>
          <a:prstGeom prst="roundRect">
            <a:avLst>
              <a:gd name="adj" fmla="val 6000"/>
            </a:avLst>
          </a:prstGeom>
          <a:solidFill>
            <a:srgbClr val="141A2E"/>
          </a:solidFill>
          <a:ln w="12700">
            <a:solidFill>
              <a:srgbClr val="2A335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10528" y="1463040"/>
            <a:ext cx="4992624" cy="45720"/>
          </a:xfrm>
          <a:prstGeom prst="rect">
            <a:avLst/>
          </a:prstGeom>
          <a:solidFill>
            <a:srgbClr val="8B84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1645920"/>
            <a:ext cx="4754880" cy="365760"/>
          </a:xfrm>
          <a:prstGeom prst="rect">
            <a:avLst/>
          </a:prstGeom>
          <a:noFill/>
        </p:spPr>
        <p:txBody>
          <a:bodyPr wrap="square" lIns="36576" rIns="36576" tIns="18288" bIns="18288" anchor="t">
            <a:spAutoFit/>
          </a:bodyPr>
          <a:lstStyle/>
          <a:p>
            <a:pPr algn="l">
              <a:lnSpc>
                <a:spcPct val="105000"/>
              </a:lnSpc>
            </a:pPr>
            <a:r>
              <a:rPr sz="1600" b="1" i="0">
                <a:solidFill>
                  <a:srgbClr val="8B84FF"/>
                </a:solidFill>
                <a:latin typeface="Calibri"/>
              </a:rPr>
              <a:t>Suggested next steps (not yet done)</a:t>
            </a:r>
          </a:p>
        </p:txBody>
      </p:sp>
      <p:sp>
        <p:nvSpPr>
          <p:cNvPr id="13" name="TextBox 12"/>
          <p:cNvSpPr txBox="1"/>
          <p:nvPr/>
        </p:nvSpPr>
        <p:spPr>
          <a:xfrm>
            <a:off x="6629400" y="2103120"/>
            <a:ext cx="4754880" cy="3840480"/>
          </a:xfrm>
          <a:prstGeom prst="rect">
            <a:avLst/>
          </a:prstGeom>
          <a:noFill/>
        </p:spPr>
        <p:txBody>
          <a:bodyPr wrap="square">
            <a:spAutoFit/>
          </a:bodyPr>
          <a:lstStyle/>
          <a:p>
            <a:pPr>
              <a:lnSpc>
                <a:spcPct val="105000"/>
              </a:lnSpc>
              <a:spcAft>
                <a:spcPts val="1200"/>
              </a:spcAft>
            </a:pPr>
            <a:r>
              <a:rPr sz="1700">
                <a:solidFill>
                  <a:srgbClr val="00D4AA"/>
                </a:solidFill>
                <a:latin typeface="Calibri"/>
              </a:rPr>
              <a:t>▪  </a:t>
            </a:r>
            <a:r>
              <a:rPr sz="1700" b="0">
                <a:solidFill>
                  <a:srgbClr val="E8ECF5"/>
                </a:solidFill>
                <a:latin typeface="Calibri"/>
              </a:rPr>
              <a:t>Assign prediction dates without relying on the label; re-evaluate with and without missing indicators</a:t>
            </a:r>
          </a:p>
          <a:p>
            <a:pPr>
              <a:lnSpc>
                <a:spcPct val="105000"/>
              </a:lnSpc>
              <a:spcAft>
                <a:spcPts val="1200"/>
              </a:spcAft>
            </a:pPr>
            <a:r>
              <a:rPr sz="1700">
                <a:solidFill>
                  <a:srgbClr val="00D4AA"/>
                </a:solidFill>
                <a:latin typeface="Calibri"/>
              </a:rPr>
              <a:t>▪  </a:t>
            </a:r>
            <a:r>
              <a:rPr sz="1700" b="0">
                <a:solidFill>
                  <a:srgbClr val="E8ECF5"/>
                </a:solidFill>
                <a:latin typeface="Calibri"/>
              </a:rPr>
              <a:t>Score the dashboard with training-consistent features</a:t>
            </a:r>
          </a:p>
          <a:p>
            <a:pPr>
              <a:lnSpc>
                <a:spcPct val="105000"/>
              </a:lnSpc>
              <a:spcAft>
                <a:spcPts val="1200"/>
              </a:spcAft>
            </a:pPr>
            <a:r>
              <a:rPr sz="1700">
                <a:solidFill>
                  <a:srgbClr val="00D4AA"/>
                </a:solidFill>
                <a:latin typeface="Calibri"/>
              </a:rPr>
              <a:t>▪  </a:t>
            </a:r>
            <a:r>
              <a:rPr sz="1700" b="0">
                <a:solidFill>
                  <a:srgbClr val="E8ECF5"/>
                </a:solidFill>
                <a:latin typeface="Calibri"/>
              </a:rPr>
              <a:t>Repeated CV and confidence intervals</a:t>
            </a:r>
          </a:p>
          <a:p>
            <a:pPr>
              <a:lnSpc>
                <a:spcPct val="105000"/>
              </a:lnSpc>
              <a:spcAft>
                <a:spcPts val="1200"/>
              </a:spcAft>
            </a:pPr>
            <a:r>
              <a:rPr sz="1700">
                <a:solidFill>
                  <a:srgbClr val="00D4AA"/>
                </a:solidFill>
                <a:latin typeface="Calibri"/>
              </a:rPr>
              <a:t>▪  </a:t>
            </a:r>
            <a:r>
              <a:rPr sz="1700" b="0">
                <a:solidFill>
                  <a:srgbClr val="E8ECF5"/>
                </a:solidFill>
                <a:latin typeface="Calibri"/>
              </a:rPr>
              <a:t>Generate app figures from saved result files</a:t>
            </a:r>
          </a:p>
          <a:p>
            <a:pPr>
              <a:lnSpc>
                <a:spcPct val="105000"/>
              </a:lnSpc>
              <a:spcAft>
                <a:spcPts val="1200"/>
              </a:spcAft>
            </a:pPr>
            <a:r>
              <a:rPr sz="1700">
                <a:solidFill>
                  <a:srgbClr val="00D4AA"/>
                </a:solidFill>
                <a:latin typeface="Calibri"/>
              </a:rPr>
              <a:t>▪  </a:t>
            </a:r>
            <a:r>
              <a:rPr sz="1700" b="0">
                <a:solidFill>
                  <a:srgbClr val="E8ECF5"/>
                </a:solidFill>
                <a:latin typeface="Calibri"/>
              </a:rPr>
              <a:t>Validate on a real, non-synthetic dataset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